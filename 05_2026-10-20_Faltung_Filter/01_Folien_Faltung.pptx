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2" r:id="rId4"/>
  </p:sldMasterIdLst>
  <p:notesMasterIdLst>
    <p:notesMasterId r:id="rId55"/>
  </p:notesMasterIdLst>
  <p:handoutMasterIdLst>
    <p:handoutMasterId r:id="rId56"/>
  </p:handoutMasterIdLst>
  <p:sldIdLst>
    <p:sldId id="306" r:id="rId23"/>
    <p:sldId id="307" r:id="rId22"/>
    <p:sldId id="273" r:id="rId24"/>
    <p:sldId id="274" r:id="rId25"/>
    <p:sldId id="308" r:id="rId30"/>
    <p:sldId id="309" r:id="rId21"/>
    <p:sldId id="275" r:id="rId26"/>
    <p:sldId id="276" r:id="rId27"/>
    <p:sldId id="277" r:id="rId28"/>
    <p:sldId id="278" r:id="rId29"/>
    <p:sldId id="280" r:id="rId31"/>
    <p:sldId id="305" r:id="rId32"/>
    <p:sldId id="281" r:id="rId33"/>
    <p:sldId id="282" r:id="rId34"/>
    <p:sldId id="283" r:id="rId35"/>
    <p:sldId id="285" r:id="rId37"/>
    <p:sldId id="286" r:id="rId38"/>
    <p:sldId id="287" r:id="rId39"/>
    <p:sldId id="289" r:id="rId41"/>
    <p:sldId id="310" r:id="rId20"/>
    <p:sldId id="311" r:id="rId19"/>
    <p:sldId id="312" r:id="rId18"/>
    <p:sldId id="313" r:id="rId17"/>
    <p:sldId id="314" r:id="rId36"/>
    <p:sldId id="315" r:id="rId16"/>
    <p:sldId id="316" r:id="rId15"/>
    <p:sldId id="317" r:id="rId14"/>
    <p:sldId id="318" r:id="rId40"/>
    <p:sldId id="319" r:id="rId13"/>
    <p:sldId id="320" r:id="rId42"/>
    <p:sldId id="321" r:id="rId43"/>
    <p:sldId id="322" r:id="rId44"/>
    <p:sldId id="323" r:id="rId45"/>
    <p:sldId id="324" r:id="rId46"/>
    <p:sldId id="325" r:id="rId47"/>
    <p:sldId id="326" r:id="rId48"/>
    <p:sldId id="327" r:id="rId49"/>
    <p:sldId id="328" r:id="rId50"/>
    <p:sldId id="329" r:id="rId51"/>
    <p:sldId id="330" r:id="rId52"/>
    <p:sldId id="331" r:id="rId53"/>
    <p:sldId id="332" r:id="rId54"/>
    <p:sldId id="333" r:id="rId12"/>
    <p:sldId id="334" r:id="rId11"/>
    <p:sldId id="335" r:id="rId10"/>
    <p:sldId id="336" r:id="rId9"/>
    <p:sldId id="337" r:id="rId8"/>
    <p:sldId id="338" r:id="rId7"/>
    <p:sldId id="339" r:id="rId6"/>
    <p:sldId id="340" r:id="rId5"/>
    <p:sldId id="341" r:id="rId63"/>
    <p:sldId id="342" r:id="rId64"/>
    <p:sldId id="343" r:id="rId65"/>
  </p:sldIdLst>
  <p:sldSz cx="12192000" cy="6858000"/>
  <p:notesSz cx="6858000" cy="9144000"/>
  <p:defaultTextStyle>
    <a:defPPr rtl="0"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29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90C"/>
    <a:srgbClr val="CD1313"/>
    <a:srgbClr val="194383"/>
    <a:srgbClr val="FF9327"/>
    <a:srgbClr val="D9D9D9"/>
    <a:srgbClr val="FF7F00"/>
    <a:srgbClr val="0F9A0C"/>
    <a:srgbClr val="E7E6E4"/>
    <a:srgbClr val="BABECE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7496B9-3EF2-4FCC-BCA6-780916EDFCB6}" v="3" dt="2026-10-12T12:42:42.3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148" y="96"/>
      </p:cViewPr>
      <p:guideLst>
        <p:guide orient="horz" pos="2160"/>
        <p:guide pos="429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50.xml"/><Relationship Id="rId6" Type="http://schemas.openxmlformats.org/officeDocument/2006/relationships/slide" Target="slides/slide49.xml"/><Relationship Id="rId7" Type="http://schemas.openxmlformats.org/officeDocument/2006/relationships/slide" Target="slides/slide48.xml"/><Relationship Id="rId8" Type="http://schemas.openxmlformats.org/officeDocument/2006/relationships/slide" Target="slides/slide47.xml"/><Relationship Id="rId9" Type="http://schemas.openxmlformats.org/officeDocument/2006/relationships/slide" Target="slides/slide46.xml"/><Relationship Id="rId10" Type="http://schemas.openxmlformats.org/officeDocument/2006/relationships/slide" Target="slides/slide45.xml"/><Relationship Id="rId11" Type="http://schemas.openxmlformats.org/officeDocument/2006/relationships/slide" Target="slides/slide44.xml"/><Relationship Id="rId12" Type="http://schemas.openxmlformats.org/officeDocument/2006/relationships/slide" Target="slides/slide43.xml"/><Relationship Id="rId13" Type="http://schemas.openxmlformats.org/officeDocument/2006/relationships/slide" Target="slides/slide29.xml"/><Relationship Id="rId14" Type="http://schemas.openxmlformats.org/officeDocument/2006/relationships/slide" Target="slides/slide27.xml"/><Relationship Id="rId15" Type="http://schemas.openxmlformats.org/officeDocument/2006/relationships/slide" Target="slides/slide26.xml"/><Relationship Id="rId16" Type="http://schemas.openxmlformats.org/officeDocument/2006/relationships/slide" Target="slides/slide25.xml"/><Relationship Id="rId17" Type="http://schemas.openxmlformats.org/officeDocument/2006/relationships/slide" Target="slides/slide23.xml"/><Relationship Id="rId18" Type="http://schemas.openxmlformats.org/officeDocument/2006/relationships/slide" Target="slides/slide22.xml"/><Relationship Id="rId19" Type="http://schemas.openxmlformats.org/officeDocument/2006/relationships/slide" Target="slides/slide21.xml"/><Relationship Id="rId20" Type="http://schemas.openxmlformats.org/officeDocument/2006/relationships/slide" Target="slides/slide20.xml"/><Relationship Id="rId21" Type="http://schemas.openxmlformats.org/officeDocument/2006/relationships/slide" Target="slides/slide19.xml"/><Relationship Id="rId22" Type="http://schemas.openxmlformats.org/officeDocument/2006/relationships/slide" Target="slides/slide17.xml"/><Relationship Id="rId23" Type="http://schemas.openxmlformats.org/officeDocument/2006/relationships/slide" Target="slides/slide16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18.xml"/><Relationship Id="rId31" Type="http://schemas.openxmlformats.org/officeDocument/2006/relationships/slide" Target="slides/slide7.xml"/><Relationship Id="rId32" Type="http://schemas.openxmlformats.org/officeDocument/2006/relationships/slide" Target="slides/slide8.xml"/><Relationship Id="rId33" Type="http://schemas.openxmlformats.org/officeDocument/2006/relationships/slide" Target="slides/slide9.xml"/><Relationship Id="rId34" Type="http://schemas.openxmlformats.org/officeDocument/2006/relationships/slide" Target="slides/slide10.xml"/><Relationship Id="rId35" Type="http://schemas.openxmlformats.org/officeDocument/2006/relationships/slide" Target="slides/slide11.xml"/><Relationship Id="rId36" Type="http://schemas.openxmlformats.org/officeDocument/2006/relationships/slide" Target="slides/slide24.xml"/><Relationship Id="rId37" Type="http://schemas.openxmlformats.org/officeDocument/2006/relationships/slide" Target="slides/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Relationship Id="rId40" Type="http://schemas.openxmlformats.org/officeDocument/2006/relationships/slide" Target="slides/slide28.xml"/><Relationship Id="rId41" Type="http://schemas.openxmlformats.org/officeDocument/2006/relationships/slide" Target="slides/slide15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notesMaster" Target="notesMasters/notesMaster1.xml"/><Relationship Id="rId56" Type="http://schemas.openxmlformats.org/officeDocument/2006/relationships/handoutMaster" Target="handoutMasters/handout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Relationship Id="rId61" Type="http://schemas.microsoft.com/office/2016/11/relationships/changesInfo" Target="changesInfos/changesInfo1.xml"/><Relationship Id="rId62" Type="http://schemas.microsoft.com/office/2015/10/relationships/revisionInfo" Target="revisionInfo.xml"/><Relationship Id="rId63" Type="http://schemas.openxmlformats.org/officeDocument/2006/relationships/slide" Target="slides/slide51.xml"/><Relationship Id="rId64" Type="http://schemas.openxmlformats.org/officeDocument/2006/relationships/slide" Target="slides/slide52.xml"/><Relationship Id="rId65" Type="http://schemas.openxmlformats.org/officeDocument/2006/relationships/slide" Target="slides/slide5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Schaffenroth" userId="83ba2d4c-f1cc-45fa-9036-06081a77fcd1" providerId="ADAL" clId="{F2154472-16D7-46D5-B8D0-F8FEF091E191}"/>
    <pc:docChg chg="undo custSel addSld modSld sldOrd">
      <pc:chgData name="Sebastian Schaffenroth" userId="83ba2d4c-f1cc-45fa-9036-06081a77fcd1" providerId="ADAL" clId="{F2154472-16D7-46D5-B8D0-F8FEF091E191}" dt="2026-10-12T12:42:42.350" v="49"/>
      <pc:docMkLst>
        <pc:docMk/>
      </pc:docMkLst>
      <pc:sldChg chg="modSp mod">
        <pc:chgData name="Sebastian Schaffenroth" userId="83ba2d4c-f1cc-45fa-9036-06081a77fcd1" providerId="ADAL" clId="{F2154472-16D7-46D5-B8D0-F8FEF091E191}" dt="2026-10-12T12:23:07.380" v="9" actId="255"/>
        <pc:sldMkLst>
          <pc:docMk/>
          <pc:sldMk cId="0" sldId="264"/>
        </pc:sldMkLst>
        <pc:spChg chg="mod">
          <ac:chgData name="Sebastian Schaffenroth" userId="83ba2d4c-f1cc-45fa-9036-06081a77fcd1" providerId="ADAL" clId="{F2154472-16D7-46D5-B8D0-F8FEF091E191}" dt="2026-10-12T12:23:07.380" v="9" actId="255"/>
          <ac:spMkLst>
            <pc:docMk/>
            <pc:sldMk cId="0" sldId="264"/>
            <ac:spMk id="4" creationId="{00000000-0000-0000-0000-000000000000}"/>
          </ac:spMkLst>
        </pc:spChg>
      </pc:sldChg>
      <pc:sldChg chg="addSp modSp mod">
        <pc:chgData name="Sebastian Schaffenroth" userId="83ba2d4c-f1cc-45fa-9036-06081a77fcd1" providerId="ADAL" clId="{F2154472-16D7-46D5-B8D0-F8FEF091E191}" dt="2026-10-12T12:25:48.716" v="42" actId="5793"/>
        <pc:sldMkLst>
          <pc:docMk/>
          <pc:sldMk cId="0" sldId="270"/>
        </pc:sldMkLst>
        <pc:spChg chg="mod">
          <ac:chgData name="Sebastian Schaffenroth" userId="83ba2d4c-f1cc-45fa-9036-06081a77fcd1" providerId="ADAL" clId="{F2154472-16D7-46D5-B8D0-F8FEF091E191}" dt="2026-10-12T12:25:48.716" v="42" actId="5793"/>
          <ac:spMkLst>
            <pc:docMk/>
            <pc:sldMk cId="0" sldId="270"/>
            <ac:spMk id="2" creationId="{00000000-0000-0000-0000-000000000000}"/>
          </ac:spMkLst>
        </pc:spChg>
        <pc:spChg chg="add mod">
          <ac:chgData name="Sebastian Schaffenroth" userId="83ba2d4c-f1cc-45fa-9036-06081a77fcd1" providerId="ADAL" clId="{F2154472-16D7-46D5-B8D0-F8FEF091E191}" dt="2026-10-12T12:25:44.291" v="37" actId="14100"/>
          <ac:spMkLst>
            <pc:docMk/>
            <pc:sldMk cId="0" sldId="270"/>
            <ac:spMk id="5" creationId="{2FE7FF7A-210A-B218-4F18-D120B3866E35}"/>
          </ac:spMkLst>
        </pc:spChg>
      </pc:sldChg>
      <pc:sldChg chg="ord">
        <pc:chgData name="Sebastian Schaffenroth" userId="83ba2d4c-f1cc-45fa-9036-06081a77fcd1" providerId="ADAL" clId="{F2154472-16D7-46D5-B8D0-F8FEF091E191}" dt="2026-10-12T12:30:45.223" v="48"/>
        <pc:sldMkLst>
          <pc:docMk/>
          <pc:sldMk cId="0" sldId="281"/>
        </pc:sldMkLst>
      </pc:sldChg>
      <pc:sldChg chg="ord">
        <pc:chgData name="Sebastian Schaffenroth" userId="83ba2d4c-f1cc-45fa-9036-06081a77fcd1" providerId="ADAL" clId="{F2154472-16D7-46D5-B8D0-F8FEF091E191}" dt="2026-10-12T12:30:25.714" v="46"/>
        <pc:sldMkLst>
          <pc:docMk/>
          <pc:sldMk cId="0" sldId="283"/>
        </pc:sldMkLst>
      </pc:sldChg>
      <pc:sldChg chg="modSp mod">
        <pc:chgData name="Sebastian Schaffenroth" userId="83ba2d4c-f1cc-45fa-9036-06081a77fcd1" providerId="ADAL" clId="{F2154472-16D7-46D5-B8D0-F8FEF091E191}" dt="2026-10-12T12:25:24.191" v="32" actId="27636"/>
        <pc:sldMkLst>
          <pc:docMk/>
          <pc:sldMk cId="0" sldId="288"/>
        </pc:sldMkLst>
        <pc:spChg chg="mod">
          <ac:chgData name="Sebastian Schaffenroth" userId="83ba2d4c-f1cc-45fa-9036-06081a77fcd1" providerId="ADAL" clId="{F2154472-16D7-46D5-B8D0-F8FEF091E191}" dt="2026-10-12T12:25:24.191" v="32" actId="27636"/>
          <ac:spMkLst>
            <pc:docMk/>
            <pc:sldMk cId="0" sldId="288"/>
            <ac:spMk id="2" creationId="{00000000-0000-0000-0000-000000000000}"/>
          </ac:spMkLst>
        </pc:spChg>
      </pc:sldChg>
      <pc:sldChg chg="addSp modSp add mod ord">
        <pc:chgData name="Sebastian Schaffenroth" userId="83ba2d4c-f1cc-45fa-9036-06081a77fcd1" providerId="ADAL" clId="{F2154472-16D7-46D5-B8D0-F8FEF091E191}" dt="2026-10-12T12:25:02.071" v="26"/>
        <pc:sldMkLst>
          <pc:docMk/>
          <pc:sldMk cId="3318666946" sldId="303"/>
        </pc:sldMkLst>
        <pc:spChg chg="mod">
          <ac:chgData name="Sebastian Schaffenroth" userId="83ba2d4c-f1cc-45fa-9036-06081a77fcd1" providerId="ADAL" clId="{F2154472-16D7-46D5-B8D0-F8FEF091E191}" dt="2026-10-12T12:24:31.127" v="20" actId="20577"/>
          <ac:spMkLst>
            <pc:docMk/>
            <pc:sldMk cId="3318666946" sldId="303"/>
            <ac:spMk id="2" creationId="{DDE702BF-0E73-CA33-370A-4B057FE39862}"/>
          </ac:spMkLst>
        </pc:spChg>
        <pc:spChg chg="add mod">
          <ac:chgData name="Sebastian Schaffenroth" userId="83ba2d4c-f1cc-45fa-9036-06081a77fcd1" providerId="ADAL" clId="{F2154472-16D7-46D5-B8D0-F8FEF091E191}" dt="2026-10-12T12:24:55.751" v="24" actId="13822"/>
          <ac:spMkLst>
            <pc:docMk/>
            <pc:sldMk cId="3318666946" sldId="303"/>
            <ac:spMk id="4" creationId="{72FD55F2-AA9D-63B7-000A-C7348CF37215}"/>
          </ac:spMkLst>
        </pc:spChg>
      </pc:sldChg>
      <pc:sldChg chg="addSp modSp add">
        <pc:chgData name="Sebastian Schaffenroth" userId="83ba2d4c-f1cc-45fa-9036-06081a77fcd1" providerId="ADAL" clId="{F2154472-16D7-46D5-B8D0-F8FEF091E191}" dt="2026-10-12T12:25:21.756" v="28" actId="767"/>
        <pc:sldMkLst>
          <pc:docMk/>
          <pc:sldMk cId="2880241785" sldId="304"/>
        </pc:sldMkLst>
        <pc:spChg chg="add mod">
          <ac:chgData name="Sebastian Schaffenroth" userId="83ba2d4c-f1cc-45fa-9036-06081a77fcd1" providerId="ADAL" clId="{F2154472-16D7-46D5-B8D0-F8FEF091E191}" dt="2026-10-12T12:25:21.756" v="28" actId="767"/>
          <ac:spMkLst>
            <pc:docMk/>
            <pc:sldMk cId="2880241785" sldId="304"/>
            <ac:spMk id="4" creationId="{05511527-AF53-230A-9F61-FC26FEC52744}"/>
          </ac:spMkLst>
        </pc:spChg>
      </pc:sldChg>
      <pc:sldChg chg="add">
        <pc:chgData name="Sebastian Schaffenroth" userId="83ba2d4c-f1cc-45fa-9036-06081a77fcd1" providerId="ADAL" clId="{F2154472-16D7-46D5-B8D0-F8FEF091E191}" dt="2026-10-12T12:42:42.350" v="49"/>
        <pc:sldMkLst>
          <pc:docMk/>
          <pc:sldMk cId="3432627550" sldId="305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05D51D2-ADCD-4092-BFAC-B3B920D83F85}" type="datetime1">
              <a:rPr lang="de-DE" smtClean="0"/>
              <a:t>12.10.2026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EE615-04DF-4142-8B33-EF0FCE4F93E5}" type="datetime1">
              <a:rPr lang="de-DE" smtClean="0"/>
              <a:pPr/>
              <a:t>12.10.2026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 descr="Ein Bild, das weiß, Design, Kunst enthält.&#10;&#10;KI-generierte Inhalte können fehlerhaft sein.">
            <a:extLst>
              <a:ext uri="{FF2B5EF4-FFF2-40B4-BE49-F238E27FC236}">
                <a16:creationId xmlns:a16="http://schemas.microsoft.com/office/drawing/2014/main" id="{DBD8102E-E41E-1226-5FCC-07A17AF777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7"/>
          <a:stretch/>
        </p:blipFill>
        <p:spPr>
          <a:xfrm>
            <a:off x="0" y="0"/>
            <a:ext cx="12192000" cy="69913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D026FA2-D656-5742-A409-0FD791FF4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" y="1801653"/>
            <a:ext cx="8735060" cy="22831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1A2D62C-011C-421D-A137-5CDD11ADF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40" y="4188778"/>
            <a:ext cx="873506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52309768-3AB1-C2F3-0AF1-DE2EAC4825BB}"/>
              </a:ext>
            </a:extLst>
          </p:cNvPr>
          <p:cNvCxnSpPr>
            <a:cxnSpLocks/>
          </p:cNvCxnSpPr>
          <p:nvPr userDrawn="1"/>
        </p:nvCxnSpPr>
        <p:spPr>
          <a:xfrm>
            <a:off x="358140" y="4139407"/>
            <a:ext cx="5334000" cy="0"/>
          </a:xfrm>
          <a:prstGeom prst="line">
            <a:avLst/>
          </a:prstGeom>
          <a:ln w="28575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19A9DA63-AB07-ECFA-6D56-3DE755E1BA41}"/>
              </a:ext>
            </a:extLst>
          </p:cNvPr>
          <p:cNvSpPr/>
          <p:nvPr userDrawn="1"/>
        </p:nvSpPr>
        <p:spPr>
          <a:xfrm>
            <a:off x="8111537" y="6044596"/>
            <a:ext cx="3022900" cy="61621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räne 4">
            <a:extLst>
              <a:ext uri="{FF2B5EF4-FFF2-40B4-BE49-F238E27FC236}">
                <a16:creationId xmlns:a16="http://schemas.microsoft.com/office/drawing/2014/main" id="{C7AC6466-164E-CD8B-9243-EAB9F6107127}"/>
              </a:ext>
            </a:extLst>
          </p:cNvPr>
          <p:cNvSpPr/>
          <p:nvPr userDrawn="1"/>
        </p:nvSpPr>
        <p:spPr>
          <a:xfrm>
            <a:off x="9397013" y="5018928"/>
            <a:ext cx="1016143" cy="1016143"/>
          </a:xfrm>
          <a:prstGeom prst="teardrop">
            <a:avLst/>
          </a:prstGeom>
          <a:solidFill>
            <a:srgbClr val="CD1313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: obere Ecken abgerundet 5">
            <a:extLst>
              <a:ext uri="{FF2B5EF4-FFF2-40B4-BE49-F238E27FC236}">
                <a16:creationId xmlns:a16="http://schemas.microsoft.com/office/drawing/2014/main" id="{67E45C4F-6AC9-81FE-9FB6-4F5396A27C54}"/>
              </a:ext>
            </a:extLst>
          </p:cNvPr>
          <p:cNvSpPr/>
          <p:nvPr userDrawn="1"/>
        </p:nvSpPr>
        <p:spPr>
          <a:xfrm rot="5400000">
            <a:off x="9852780" y="4762939"/>
            <a:ext cx="1842033" cy="7212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F990C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räne 6">
            <a:extLst>
              <a:ext uri="{FF2B5EF4-FFF2-40B4-BE49-F238E27FC236}">
                <a16:creationId xmlns:a16="http://schemas.microsoft.com/office/drawing/2014/main" id="{59C12670-0B71-961E-622A-BDBA91DA679A}"/>
              </a:ext>
            </a:extLst>
          </p:cNvPr>
          <p:cNvSpPr/>
          <p:nvPr userDrawn="1"/>
        </p:nvSpPr>
        <p:spPr>
          <a:xfrm>
            <a:off x="11134437" y="3973644"/>
            <a:ext cx="1842034" cy="1842034"/>
          </a:xfrm>
          <a:prstGeom prst="teardrop">
            <a:avLst/>
          </a:prstGeom>
          <a:solidFill>
            <a:srgbClr val="1943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räne 8">
            <a:extLst>
              <a:ext uri="{FF2B5EF4-FFF2-40B4-BE49-F238E27FC236}">
                <a16:creationId xmlns:a16="http://schemas.microsoft.com/office/drawing/2014/main" id="{834475F0-DE9C-7713-DF73-43F9397771FB}"/>
              </a:ext>
            </a:extLst>
          </p:cNvPr>
          <p:cNvSpPr/>
          <p:nvPr userDrawn="1"/>
        </p:nvSpPr>
        <p:spPr>
          <a:xfrm rot="16200000">
            <a:off x="11134437" y="5815678"/>
            <a:ext cx="1133763" cy="1133763"/>
          </a:xfrm>
          <a:prstGeom prst="teardrop">
            <a:avLst/>
          </a:prstGeom>
          <a:solidFill>
            <a:srgbClr val="0F990C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CF954D0-37F6-2F2C-66E6-31263A2696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6690" y="399119"/>
            <a:ext cx="8321964" cy="97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7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8">
          <p15:clr>
            <a:srgbClr val="FBAE40"/>
          </p15:clr>
        </p15:guide>
        <p15:guide id="2" pos="588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fik 19" descr="Ein Bild, das weiß, Design, Kunst enthält.&#10;&#10;KI-generierte Inhalte können fehlerhaft sein.">
            <a:extLst>
              <a:ext uri="{FF2B5EF4-FFF2-40B4-BE49-F238E27FC236}">
                <a16:creationId xmlns:a16="http://schemas.microsoft.com/office/drawing/2014/main" id="{4CD12FE6-BACC-8D6C-9611-18479E6042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7"/>
          <a:stretch/>
        </p:blipFill>
        <p:spPr>
          <a:xfrm>
            <a:off x="0" y="0"/>
            <a:ext cx="12192000" cy="6991350"/>
          </a:xfrm>
          <a:prstGeom prst="rect">
            <a:avLst/>
          </a:prstGeom>
        </p:spPr>
      </p:pic>
      <p:sp>
        <p:nvSpPr>
          <p:cNvPr id="21" name="Rechteck 20">
            <a:extLst>
              <a:ext uri="{FF2B5EF4-FFF2-40B4-BE49-F238E27FC236}">
                <a16:creationId xmlns:a16="http://schemas.microsoft.com/office/drawing/2014/main" id="{E256F9DF-099C-5027-D9A5-DC9B379D3C4A}"/>
              </a:ext>
            </a:extLst>
          </p:cNvPr>
          <p:cNvSpPr/>
          <p:nvPr userDrawn="1"/>
        </p:nvSpPr>
        <p:spPr>
          <a:xfrm flipV="1">
            <a:off x="0" y="3342071"/>
            <a:ext cx="9372600" cy="258508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338DFD7-58B3-4BAC-6325-1555006EFB38}"/>
              </a:ext>
            </a:extLst>
          </p:cNvPr>
          <p:cNvSpPr/>
          <p:nvPr userDrawn="1"/>
        </p:nvSpPr>
        <p:spPr>
          <a:xfrm flipV="1">
            <a:off x="0" y="3342071"/>
            <a:ext cx="9372600" cy="2585085"/>
          </a:xfrm>
          <a:prstGeom prst="rect">
            <a:avLst/>
          </a:prstGeom>
          <a:solidFill>
            <a:srgbClr val="C7CA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20946" y="3731322"/>
            <a:ext cx="9036513" cy="830581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algn="l">
              <a:defRPr sz="3600" b="1" spc="2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de-DE" noProof="0" dirty="0"/>
              <a:t>Mastertitelformat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5586" y="4705360"/>
            <a:ext cx="9036513" cy="1002020"/>
          </a:xfrm>
          <a:prstGeom prst="rect">
            <a:avLst/>
          </a:prstGeo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de-DE" noProof="0" dirty="0"/>
              <a:t>Master-Untertitelformat bearbeiten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51FBC56-60D7-4730-1A65-135F655549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6690" y="399119"/>
            <a:ext cx="8321964" cy="9746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F5831A71-98A1-CB88-1AC0-AE0D21D65980}"/>
              </a:ext>
            </a:extLst>
          </p:cNvPr>
          <p:cNvCxnSpPr>
            <a:cxnSpLocks/>
          </p:cNvCxnSpPr>
          <p:nvPr userDrawn="1"/>
        </p:nvCxnSpPr>
        <p:spPr>
          <a:xfrm>
            <a:off x="985419" y="1881487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C410E52D-A003-3CAC-08F2-8710D0B73F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5419" y="1513189"/>
            <a:ext cx="9720072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019C591D-864B-EE86-1040-91432FB76C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4884" y="1881321"/>
            <a:ext cx="9720071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 dirty="0"/>
              <a:t>Zweite Ebene</a:t>
            </a:r>
          </a:p>
          <a:p>
            <a:pPr lvl="1"/>
            <a:endParaRPr lang="de-DE" dirty="0"/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0C3BC8E3-61C8-BD39-05E4-F8FA82E94583}"/>
              </a:ext>
            </a:extLst>
          </p:cNvPr>
          <p:cNvCxnSpPr>
            <a:cxnSpLocks/>
          </p:cNvCxnSpPr>
          <p:nvPr userDrawn="1"/>
        </p:nvCxnSpPr>
        <p:spPr>
          <a:xfrm>
            <a:off x="985419" y="3335168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platzhalter 27">
            <a:extLst>
              <a:ext uri="{FF2B5EF4-FFF2-40B4-BE49-F238E27FC236}">
                <a16:creationId xmlns:a16="http://schemas.microsoft.com/office/drawing/2014/main" id="{4A12A037-A41B-61EA-7502-2EF45D6D4F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85419" y="2966870"/>
            <a:ext cx="9719536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3" name="Textplatzhalter 29">
            <a:extLst>
              <a:ext uri="{FF2B5EF4-FFF2-40B4-BE49-F238E27FC236}">
                <a16:creationId xmlns:a16="http://schemas.microsoft.com/office/drawing/2014/main" id="{5BAD0ADE-435A-92A5-1EF2-3250A88132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4885" y="3335002"/>
            <a:ext cx="9719536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 dirty="0"/>
              <a:t>Zweite Ebene</a:t>
            </a:r>
          </a:p>
          <a:p>
            <a:pPr lvl="1"/>
            <a:endParaRPr lang="de-DE" dirty="0"/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7065094F-5D4E-74D9-1D89-4DA6AABCAB49}"/>
              </a:ext>
            </a:extLst>
          </p:cNvPr>
          <p:cNvCxnSpPr>
            <a:cxnSpLocks/>
          </p:cNvCxnSpPr>
          <p:nvPr userDrawn="1"/>
        </p:nvCxnSpPr>
        <p:spPr>
          <a:xfrm>
            <a:off x="985419" y="4788849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9CDD1638-0FD1-67CB-EA36-44A54652DC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419" y="4420551"/>
            <a:ext cx="9719002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6" name="Textplatzhalter 29">
            <a:extLst>
              <a:ext uri="{FF2B5EF4-FFF2-40B4-BE49-F238E27FC236}">
                <a16:creationId xmlns:a16="http://schemas.microsoft.com/office/drawing/2014/main" id="{9B7DBD4D-0466-8C9E-D7A5-08646A94CA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4884" y="4788683"/>
            <a:ext cx="9719001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 dirty="0"/>
              <a:t>Zweite Ebene</a:t>
            </a:r>
          </a:p>
          <a:p>
            <a:pPr lvl="1"/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74954BE9-E2D0-524E-E425-AC2211C2D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Datumsplatzhalter 5">
            <a:extLst>
              <a:ext uri="{FF2B5EF4-FFF2-40B4-BE49-F238E27FC236}">
                <a16:creationId xmlns:a16="http://schemas.microsoft.com/office/drawing/2014/main" id="{C46098A6-555D-4262-0CC8-FDAA508FB3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5B2D88E6-A1D0-4AD3-BA41-A82541C3267E}" type="datetime1">
              <a:rPr lang="de-DE" smtClean="0"/>
              <a:t>12.10.2026</a:t>
            </a:fld>
            <a:endParaRPr lang="de-DE"/>
          </a:p>
        </p:txBody>
      </p:sp>
      <p:sp>
        <p:nvSpPr>
          <p:cNvPr id="8" name="Fußzeilenplatzhalter 6">
            <a:extLst>
              <a:ext uri="{FF2B5EF4-FFF2-40B4-BE49-F238E27FC236}">
                <a16:creationId xmlns:a16="http://schemas.microsoft.com/office/drawing/2014/main" id="{52D5CE9D-DF11-6622-4575-EF76E0AE5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9" name="Foliennummernplatzhalter 7">
            <a:extLst>
              <a:ext uri="{FF2B5EF4-FFF2-40B4-BE49-F238E27FC236}">
                <a16:creationId xmlns:a16="http://schemas.microsoft.com/office/drawing/2014/main" id="{4CFF7114-95C6-3C55-2E17-BF2BC71D1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66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7BDB177-C965-1AE1-3E0A-C77034C1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5B2D88E6-A1D0-4AD3-BA41-A82541C3267E}" type="datetime1">
              <a:rPr lang="de-DE" smtClean="0"/>
              <a:t>12.10.2026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5BB0536-8E22-33B0-CE98-8F463F1B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0340307-21AD-0775-38EF-30459841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6D34F13-8D41-B937-54DE-7674A43E3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5456" y="2019335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0121BEB2-2FD6-F0FD-0457-C2ABCEA49D6B}"/>
              </a:ext>
            </a:extLst>
          </p:cNvPr>
          <p:cNvCxnSpPr>
            <a:cxnSpLocks/>
          </p:cNvCxnSpPr>
          <p:nvPr userDrawn="1"/>
        </p:nvCxnSpPr>
        <p:spPr>
          <a:xfrm>
            <a:off x="2270678" y="1835082"/>
            <a:ext cx="0" cy="885824"/>
          </a:xfrm>
          <a:prstGeom prst="line">
            <a:avLst/>
          </a:prstGeom>
          <a:ln w="38100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2EFAB0C6-503A-C1B1-0317-D2145FAC0EB3}"/>
              </a:ext>
            </a:extLst>
          </p:cNvPr>
          <p:cNvSpPr txBox="1"/>
          <p:nvPr userDrawn="1"/>
        </p:nvSpPr>
        <p:spPr>
          <a:xfrm>
            <a:off x="1264837" y="1723996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rgbClr val="FF7F00"/>
                </a:solidFill>
                <a:latin typeface="LMSans10-Regular"/>
              </a:rPr>
              <a:t>01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ACD874C5-6252-3A1D-2830-45B52B9F8B7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415456" y="3170341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983AE0F-336F-D275-4E18-1F85D69F0E7D}"/>
              </a:ext>
            </a:extLst>
          </p:cNvPr>
          <p:cNvCxnSpPr>
            <a:cxnSpLocks/>
          </p:cNvCxnSpPr>
          <p:nvPr userDrawn="1"/>
        </p:nvCxnSpPr>
        <p:spPr>
          <a:xfrm>
            <a:off x="2270678" y="2986088"/>
            <a:ext cx="0" cy="885824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C9B4C699-8EB5-F4FF-3048-DFCAE973A61D}"/>
              </a:ext>
            </a:extLst>
          </p:cNvPr>
          <p:cNvSpPr txBox="1"/>
          <p:nvPr userDrawn="1"/>
        </p:nvSpPr>
        <p:spPr>
          <a:xfrm>
            <a:off x="1264837" y="2875002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chemeClr val="bg1">
                    <a:lumMod val="75000"/>
                  </a:schemeClr>
                </a:solidFill>
                <a:latin typeface="LMSans10-Regular"/>
              </a:rPr>
              <a:t>02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75BD7E31-E992-A161-81FB-80FCE9072BF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415456" y="4321347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8B8D0EEC-1766-370F-4CB3-EC7B6BA31DF2}"/>
              </a:ext>
            </a:extLst>
          </p:cNvPr>
          <p:cNvCxnSpPr>
            <a:cxnSpLocks/>
          </p:cNvCxnSpPr>
          <p:nvPr userDrawn="1"/>
        </p:nvCxnSpPr>
        <p:spPr>
          <a:xfrm>
            <a:off x="2270678" y="4137094"/>
            <a:ext cx="0" cy="885824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95969B95-5FB2-23A2-F3B5-D3321E183C49}"/>
              </a:ext>
            </a:extLst>
          </p:cNvPr>
          <p:cNvSpPr txBox="1"/>
          <p:nvPr userDrawn="1"/>
        </p:nvSpPr>
        <p:spPr>
          <a:xfrm>
            <a:off x="1264837" y="4026008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chemeClr val="bg1">
                    <a:lumMod val="75000"/>
                  </a:schemeClr>
                </a:solidFill>
                <a:latin typeface="LMSans10-Regula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9471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Einbet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7BDB177-C965-1AE1-3E0A-C77034C1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24CB6AD2-413F-4AB9-A47A-0E330C65B786}" type="datetime1">
              <a:rPr lang="de-DE" smtClean="0"/>
              <a:t>12.10.2026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5BB0536-8E22-33B0-CE98-8F463F1B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0340307-21AD-0775-38EF-30459841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470BD9E-D85D-8C77-B129-3B354B48BDFC}"/>
              </a:ext>
            </a:extLst>
          </p:cNvPr>
          <p:cNvSpPr/>
          <p:nvPr userDrawn="1"/>
        </p:nvSpPr>
        <p:spPr>
          <a:xfrm>
            <a:off x="929639" y="1413510"/>
            <a:ext cx="4937761" cy="40309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7A3ABD2-DF22-2096-5FFA-F0C15E9A3114}"/>
              </a:ext>
            </a:extLst>
          </p:cNvPr>
          <p:cNvSpPr txBox="1"/>
          <p:nvPr userDrawn="1"/>
        </p:nvSpPr>
        <p:spPr>
          <a:xfrm>
            <a:off x="419100" y="1413510"/>
            <a:ext cx="457200" cy="39703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ED62C8D-DAFA-6CD9-032B-2719811D9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460" y="1474172"/>
            <a:ext cx="4762500" cy="39096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latin typeface="Consolas" panose="020B0609020204030204" pitchFamily="49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89A4D81-2710-C76B-AE50-F243B68492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413510"/>
            <a:ext cx="5448300" cy="46291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404907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E1E57D-A066-DB1E-6CFA-555D2557D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A16788-64DA-8761-29A2-6993FF3FA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40615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4114386-59BC-35BF-7DC2-78E216E068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B31A16E5-DAB7-476F-ABBC-9B4B2EF12B62}" type="datetime1">
              <a:rPr lang="de-DE" smtClean="0"/>
              <a:t>12.10.2026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91EB95-9411-D182-24D2-3CF38570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27955CF-B30F-49A9-3883-6E3EC1DD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63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EE770E-B3FE-784F-04CB-9CE5E8DE5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25033B-4073-C08B-B939-39E8C9774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22BA1AD-D34F-5C46-6733-021A9F1DA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AB082147-3174-BC7A-4A38-0F73ABC2B3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F6846A29-A99E-407E-919D-CAFB8EF79851}" type="datetime1">
              <a:rPr lang="de-DE" smtClean="0"/>
              <a:t>12.10.2026</a:t>
            </a:fld>
            <a:endParaRPr lang="de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80FCD1F-DF92-DD5E-A67E-7E484E4ED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05C9AD4E-3755-7EFD-EB0E-A7B78E6E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9047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E401ED-7B9A-31AD-9700-B6F578A22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948ED95-B2B4-5BF6-4A79-BED6ED9AC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6450FB-E994-9ECF-4D11-BD7B708DE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9A43200-3A87-45C7-BAC5-C7CEEF93E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4BB61C0E-3EDD-DCAE-8064-4026820EF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E914F760-BA8C-FCFC-9B81-A28E6675BA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05C427E9-F640-4066-8A1A-E369756E934A}" type="datetime1">
              <a:rPr lang="de-DE" smtClean="0"/>
              <a:t>12.10.2026</a:t>
            </a:fld>
            <a:endParaRPr lang="de-DE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0F472136-3BFF-6DF8-6F21-11154B7E3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544F3753-AFB7-A468-5335-A1D81C14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3133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AB2E684-1884-9997-9EEE-11A6EAFBC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7FCD0258-6618-4A2D-BDD5-6E568241F937}" type="datetime1">
              <a:rPr lang="de-DE" smtClean="0"/>
              <a:t>12.10.2026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F3D278AC-6940-E8B2-75F6-742CFA50A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794A9E3-7037-5711-3B5A-34325FDE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75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302247-C990-A8E0-5621-2C04A984F7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C45447BE-A639-4F18-9307-2F0370689CF1}" type="datetime1">
              <a:rPr lang="de-DE" smtClean="0"/>
              <a:t>12.10.2026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9A842EB-AC25-E76A-6058-F190AD858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[Name], [Vorname] | [Thema]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9D4A81-3024-444E-3B32-A0E0A35EC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83852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E6D59F0-C743-61B9-C470-43A5B7D51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BC9B6E-7534-B635-8163-A7A31F40B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140615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E78860-C0FB-A19C-5410-AD9AB82A4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5C846E3-81AB-4F78-BF24-91734D5F4AA0}" type="datetime1">
              <a:rPr lang="de-DE" smtClean="0"/>
              <a:pPr/>
              <a:t>12.10.2026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423C8D-B465-A50C-7A22-C82EE2D04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AC42C2-965D-1E67-E50A-5D3CBF48B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B27C6E63-FCFF-4B99-B815-1EC0894A604C}"/>
              </a:ext>
            </a:extLst>
          </p:cNvPr>
          <p:cNvCxnSpPr>
            <a:cxnSpLocks/>
          </p:cNvCxnSpPr>
          <p:nvPr userDrawn="1"/>
        </p:nvCxnSpPr>
        <p:spPr>
          <a:xfrm>
            <a:off x="419100" y="866776"/>
            <a:ext cx="1226820" cy="0"/>
          </a:xfrm>
          <a:prstGeom prst="line">
            <a:avLst/>
          </a:prstGeom>
          <a:ln w="38100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6BE44347-7A27-F5A2-264D-DD10D0824EBF}"/>
              </a:ext>
            </a:extLst>
          </p:cNvPr>
          <p:cNvCxnSpPr>
            <a:cxnSpLocks/>
          </p:cNvCxnSpPr>
          <p:nvPr userDrawn="1"/>
        </p:nvCxnSpPr>
        <p:spPr>
          <a:xfrm>
            <a:off x="121920" y="6478898"/>
            <a:ext cx="11955780" cy="0"/>
          </a:xfrm>
          <a:prstGeom prst="line">
            <a:avLst/>
          </a:prstGeom>
          <a:ln w="28575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7E91C8DA-E196-28C9-DF5B-F2B4F9188B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89934" y="285563"/>
            <a:ext cx="2469527" cy="48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3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49" r:id="rId2"/>
    <p:sldLayoutId id="2147483661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  <p:sldLayoutId id="2147483671" r:id="rId1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F7F0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40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Die Kennlinie sagt, was aus jedem Grauwert wird</a:t>
            </a:r>
          </a:p>
        </p:txBody>
      </p:sp>
      <p:pic>
        <p:nvPicPr>
          <p:cNvPr id="3" name="Picture 2" descr="07_Grafik_08_Kennli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03976"/>
            <a:ext cx="11420856" cy="50340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Jetzt ihr: Die dunkle Aufnahme retten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11109960" cy="20574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102870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FFFFFF"/>
                </a:solidFill>
                <a:latin typeface="Carlito"/>
              </a:rPr>
              <a:t>P2 — Weg 1: Passt das Bild an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Bearbeitet dunkel so, dass sie die Helligkeit nutzt wie misch: gleicher Mittelwert, gleiche Streuung.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Gesucht sind c und d in  B = c · A + d.  Greift eure Schwelle danach wieder?</a:t>
            </a:r>
          </a:p>
        </p:txBody>
      </p:sp>
      <p:pic>
        <p:nvPicPr>
          <p:cNvPr id="5" name="Picture 4" descr="07_Grafik_13b_Code_Rechn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37330"/>
            <a:ext cx="11420856" cy="28350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Nur plus: Der Mittelwert stimmt, die Maske bleibt leer</a:t>
            </a:r>
          </a:p>
        </p:txBody>
      </p:sp>
      <p:pic>
        <p:nvPicPr>
          <p:cNvPr id="3" name="Picture 2" descr="07_Grafik_10b_Plus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57702"/>
            <a:ext cx="11420856" cy="49266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Mal und plus: Mittelwert und Streuung wie bei misch</a:t>
            </a:r>
          </a:p>
        </p:txBody>
      </p:sp>
      <p:pic>
        <p:nvPicPr>
          <p:cNvPr id="3" name="Picture 2" descr="07_Grafik_11b_Mal4_Plu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57702"/>
            <a:ext cx="11420856" cy="49266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Zu weit gedreht: Was an 255 anstößt, ist verloren</a:t>
            </a:r>
          </a:p>
        </p:txBody>
      </p:sp>
      <p:pic>
        <p:nvPicPr>
          <p:cNvPr id="3" name="Picture 2" descr="07_Grafik_13_Zu_We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57702"/>
            <a:ext cx="11420856" cy="49266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Gespreizt ist nicht gemessen: Es bleiben Lücken</a:t>
            </a:r>
          </a:p>
        </p:txBody>
      </p:sp>
      <p:pic>
        <p:nvPicPr>
          <p:cNvPr id="3" name="Picture 2" descr="07_Grafik_12_Lueck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1045"/>
            <a:ext cx="11420856" cy="46799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Otsu sucht die Gruppen mit der kleinsten Streuung</a:t>
            </a:r>
          </a:p>
        </p:txBody>
      </p:sp>
      <p:pic>
        <p:nvPicPr>
          <p:cNvPr id="3" name="Picture 2" descr="07_Grafik_16_Otsu_Id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17789"/>
            <a:ext cx="11420856" cy="50064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6D97B-4A74-EF65-484E-B52C7417A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4C0FF-482F-89BD-FFCE-7BC4979D2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Otsu rechnet jede Schwelle durch — 128 gewinnt</a:t>
            </a:r>
          </a:p>
        </p:txBody>
      </p:sp>
      <p:pic>
        <p:nvPicPr>
          <p:cNvPr id="3" name="Picture 2" descr="07_Grafik_16a_Otsu_Alle.png">
            <a:extLst>
              <a:ext uri="{FF2B5EF4-FFF2-40B4-BE49-F238E27FC236}">
                <a16:creationId xmlns:a16="http://schemas.microsoft.com/office/drawing/2014/main" id="{BA708B20-8F9C-9869-8124-28E0ABE62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04" y="932688"/>
            <a:ext cx="11128342" cy="537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27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Vier Beleuchtungen — bei welchen kippt Otsu?</a:t>
            </a:r>
          </a:p>
        </p:txBody>
      </p:sp>
      <p:pic>
        <p:nvPicPr>
          <p:cNvPr id="3" name="Picture 2" descr="07_Grafik_18_Otsu_Vier_F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75953"/>
            <a:ext cx="11420856" cy="50901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Jetzt ihr: Lasst den Rechner die Schwelle finden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11109960" cy="20574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102870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FFFFFF"/>
                </a:solidFill>
                <a:latin typeface="Carlito"/>
              </a:rPr>
              <a:t>P3 — Weg 2: Passt die Schwelle an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Bestimmt den Schwellwert automatisch mit dem Otsu-Algorithmus — erst für dunkel, dann für alle vier.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Vorher tippen: Bei welchen Aufnahmen geht es schief? Euer Ergebnis kommt an die Tafel.</a:t>
            </a:r>
          </a:p>
        </p:txBody>
      </p:sp>
      <p:pic>
        <p:nvPicPr>
          <p:cNvPr id="5" name="Picture 4" descr="07_Grafik_17a_Code_Ot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84568"/>
            <a:ext cx="11420856" cy="27406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Für die dunkle Aufnahme findet Otsu von selbst die 30</a:t>
            </a:r>
          </a:p>
        </p:txBody>
      </p:sp>
      <p:pic>
        <p:nvPicPr>
          <p:cNvPr id="3" name="Picture 2" descr="07_Grafik_17_Otsu_Zwe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66975"/>
            <a:ext cx="11420856" cy="49080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Otsu rettet dunkel — und scheitert an hell und seitlich</a:t>
            </a:r>
          </a:p>
        </p:txBody>
      </p:sp>
      <p:pic>
        <p:nvPicPr>
          <p:cNvPr id="3" name="Picture 2" descr="07_Grafik_19_Otsu_Vier_Antw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75953"/>
            <a:ext cx="11420856" cy="50901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ys04_streiflicht_a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566160"/>
            <a:ext cx="12192000" cy="3291840"/>
          </a:xfrm>
          <a:prstGeom prst="rect">
            <a:avLst/>
          </a:prstGeom>
          <a:solidFill>
            <a:srgbClr val="1F2A3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72896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D9E2EC"/>
                </a:solidFill>
                <a:latin typeface="Carlito"/>
              </a:rPr>
              <a:t>Streiflicht</a:t>
            </a:r>
          </a:p>
          <a:p>
            <a:pPr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Carlito"/>
              </a:rPr>
              <a:t>Eine Seite im Licht, eine im Schatten.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D9E2EC"/>
                </a:solidFill>
                <a:latin typeface="Carlito"/>
              </a:rPr>
              <a:t>Welche Zahl soll hier das ganze Bild trennen?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Bei Streiflicht passt keine einzige Schwelle</a:t>
            </a:r>
          </a:p>
        </p:txBody>
      </p:sp>
      <p:pic>
        <p:nvPicPr>
          <p:cNvPr id="3" name="Picture 2" descr="07_Grafik_20_Streiflic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83789"/>
            <a:ext cx="11420856" cy="48744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Beide Wege kennen den Wert — nicht den Ort</a:t>
            </a:r>
          </a:p>
        </p:txBody>
      </p:sp>
      <p:pic>
        <p:nvPicPr>
          <p:cNvPr id="3" name="Picture 2" descr="07_Grafik_22_Bilan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93740"/>
            <a:ext cx="11420856" cy="50545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Carlito"/>
              </a:rPr>
              <a:t>Was die Nachbarn verraten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rlito"/>
              </a:rPr>
              <a:t>Faltung und Filter · DS 05 · 20. Oktober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25880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E97132"/>
                </a:solidFill>
                <a:latin typeface="Carlito"/>
              </a:rPr>
              <a:t>00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490472"/>
            <a:ext cx="32004" cy="67665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63240" y="1325880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Carlito"/>
              </a:rPr>
              <a:t>Rest DS 04: Bild und Schwelle anpassen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76856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441448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2276856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Kante und Fläche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27832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392424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3227832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Die Faltung erfinden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78808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4343400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4178808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Den Umriss sichtbar machen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29784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5294376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5129784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Der Härtetest: jedes Licht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Im Heft: c und d ohne Rechner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11109960" cy="237744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1028700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FFFFFF"/>
                </a:solidFill>
                <a:latin typeface="Carlito"/>
              </a:rPr>
              <a:t>Allein, 3 Minuten — kein Rechner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Die dunkle Aufnahme soll mit B = c · A + d denselben Mittelwert und dieselbe Streuung bekommen wie misch.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Bestimmt c und d aus den Kennwerten (ganze Zahlen) und schreibt einen Satz: Welcher der beiden Werte legt die Streuung fest?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94760"/>
            <a:ext cx="5029200" cy="12344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3931920"/>
            <a:ext cx="4572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44546A"/>
                </a:solidFill>
                <a:latin typeface="Carlito"/>
              </a:rPr>
              <a:t>dunkel</a:t>
            </a:r>
          </a:p>
          <a:p>
            <a:pPr algn="l">
              <a:spcAft>
                <a:spcPts val="1000"/>
              </a:spcAft>
            </a:pPr>
            <a:r>
              <a:rPr sz="2400" b="0" i="0">
                <a:solidFill>
                  <a:srgbClr val="44546A"/>
                </a:solidFill>
                <a:latin typeface="Carlito"/>
              </a:rPr>
              <a:t>Mittelwert 23,2   ·   Streuung 11,2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794760"/>
            <a:ext cx="5029200" cy="12344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0" y="3931920"/>
            <a:ext cx="4572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44546A"/>
                </a:solidFill>
                <a:latin typeface="Carlito"/>
              </a:rPr>
              <a:t>misch — das Ziel</a:t>
            </a:r>
          </a:p>
          <a:p>
            <a:pPr algn="l">
              <a:spcAft>
                <a:spcPts val="1000"/>
              </a:spcAft>
            </a:pPr>
            <a:r>
              <a:rPr sz="2400" b="0" i="0">
                <a:solidFill>
                  <a:srgbClr val="44546A"/>
                </a:solidFill>
                <a:latin typeface="Carlito"/>
              </a:rPr>
              <a:t>Mittelwert 100,5   ·   Streuung 44,7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44546A"/>
                </a:solidFill>
                <a:latin typeface="Carlito"/>
              </a:rPr>
              <a:t>c = ________      d = ________      Welcher legt die Streuung fest? ________________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Erst c für die Streuung, dann d für den Mittelwert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6035040" cy="3657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548640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0" i="0">
                <a:solidFill>
                  <a:srgbClr val="44546A"/>
                </a:solidFill>
                <a:latin typeface="Carlito"/>
              </a:rPr>
              <a:t>c = 44,7 : 11,2 ≈ 3,99</a:t>
            </a:r>
          </a:p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E97132"/>
                </a:solidFill>
                <a:latin typeface="Carlito"/>
              </a:rPr>
              <a:t>→  c = 4</a:t>
            </a:r>
          </a:p>
          <a:p>
            <a:pPr algn="l">
              <a:spcAft>
                <a:spcPts val="800"/>
              </a:spcAft>
            </a:pPr>
            <a:r>
              <a:rPr sz="2600" b="0" i="0">
                <a:solidFill>
                  <a:srgbClr val="44546A"/>
                </a:solidFill>
                <a:latin typeface="Carlito"/>
              </a:rPr>
              <a:t>d = 100,5 − 4 · 23,2</a:t>
            </a:r>
          </a:p>
          <a:p>
            <a:pPr algn="l">
              <a:spcAft>
                <a:spcPts val="800"/>
              </a:spcAft>
            </a:pPr>
            <a:r>
              <a:rPr sz="2600" b="0" i="0">
                <a:solidFill>
                  <a:srgbClr val="44546A"/>
                </a:solidFill>
                <a:latin typeface="Carlito"/>
              </a:rPr>
              <a:t>   = 100,5 − 92,8 = 7,7</a:t>
            </a:r>
          </a:p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E97132"/>
                </a:solidFill>
                <a:latin typeface="Carlito"/>
              </a:rPr>
              <a:t>→  d =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325880"/>
            <a:ext cx="47548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 i="0">
                <a:solidFill>
                  <a:srgbClr val="44546A"/>
                </a:solidFill>
                <a:latin typeface="Carlito"/>
              </a:rPr>
              <a:t>Warum zuerst c?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44546A"/>
                </a:solidFill>
                <a:latin typeface="Carlito"/>
              </a:rPr>
              <a:t>Mal zieht das Histogramm auseinander — die Streuung wächst mit c.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44546A"/>
                </a:solidFill>
                <a:latin typeface="Carlito"/>
              </a:rPr>
              <a:t>Plus schiebt alles gleich weit — die Streuung bleibt.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44546A"/>
                </a:solidFill>
                <a:latin typeface="Carlito"/>
              </a:rPr>
              <a:t>Also: c aus den Streuungen, dann d aus dem Mittelwert mit dem gefundenen 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406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8C8C8C"/>
                </a:solidFill>
                <a:latin typeface="Carlito"/>
              </a:rPr>
              <a:t>Probe: 4 · 23,2 + 8 = 100,8 und 4 · 11,2 = 44,8 — fast genau misch.  Typischer Fehler: d = 100,5 − 23,2 (ohne das Mal).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Das Ziel heute: der Umriss — bei jedem Licht</a:t>
            </a:r>
          </a:p>
        </p:txBody>
      </p:sp>
      <p:pic>
        <p:nvPicPr>
          <p:cNvPr id="3" name="Picture 2" descr="07_Grafik_01b_Zi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53809"/>
            <a:ext cx="11420856" cy="473442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25880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00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490472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63240" y="1325880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Rest DS 04: Bild und Schwelle anpassen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76856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E97132"/>
                </a:solidFill>
                <a:latin typeface="Carlito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441448"/>
            <a:ext cx="32004" cy="67665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2276856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Carlito"/>
              </a:rPr>
              <a:t>Kante und Fläche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27832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392424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3227832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Die Faltung erfinden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78808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4343400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4178808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Den Umriss sichtbar machen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29784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5294376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5129784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Der Härtetest: jedes Licht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Aufwärmen: Wie hell ist es um diesen Pixel?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11109960" cy="20574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102870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FFFFFF"/>
                </a:solidFill>
                <a:latin typeface="Carlito"/>
              </a:rPr>
              <a:t>Im Heft, 2 Minuten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Schreibt die neun Werte im orangen Quadrat ab und rechnet ihren Mittelwert aus.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Dann ein Satz: Was habt ihr mit den neun Zahlen gemacht?</a:t>
            </a:r>
          </a:p>
        </p:txBody>
      </p:sp>
      <p:pic>
        <p:nvPicPr>
          <p:cNvPr id="5" name="Picture 4" descr="07_Grafik_01_Aufwaer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807" y="3291840"/>
            <a:ext cx="7801336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Neun Nachbarn, gleich gewichtet: 50</a:t>
            </a:r>
          </a:p>
        </p:txBody>
      </p:sp>
      <p:pic>
        <p:nvPicPr>
          <p:cNvPr id="3" name="Picture 2" descr="07_Grafik_02_HA_Nachba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53827"/>
            <a:ext cx="11420855" cy="433439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Auf der Kante unterscheiden sich die Nachbarn</a:t>
            </a:r>
          </a:p>
        </p:txBody>
      </p:sp>
      <p:pic>
        <p:nvPicPr>
          <p:cNvPr id="3" name="Picture 2" descr="07_Grafik_04_Zwei_Nachbarschaft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7" y="1138566"/>
            <a:ext cx="11420856" cy="496491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ys05_lupe_a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566160"/>
            <a:ext cx="12192000" cy="3291840"/>
          </a:xfrm>
          <a:prstGeom prst="rect">
            <a:avLst/>
          </a:prstGeom>
          <a:solidFill>
            <a:srgbClr val="1F2A3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72896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  <a:latin typeface="Carlito"/>
              </a:rPr>
              <a:t>Das Licht ändert sich von Pixel zu Pixel kaum.</a:t>
            </a:r>
          </a:p>
          <a:p>
            <a:pPr>
              <a:spcAft>
                <a:spcPts val="1000"/>
              </a:spcAft>
            </a:pPr>
            <a:r>
              <a:rPr sz="3000" b="1">
                <a:solidFill>
                  <a:srgbClr val="FFB380"/>
                </a:solidFill>
                <a:latin typeface="Carlito"/>
              </a:rPr>
              <a:t>An der Kante springt es.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D9E2EC"/>
                </a:solidFill>
                <a:latin typeface="Carlito"/>
              </a:rPr>
              <a:t>Wie fragen wir die Nachbarn, ob sich hier etwas ändert?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25880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00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490472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63240" y="1325880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Rest DS 04: Bild und Schwelle anpassen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76856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441448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2276856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Kante und Fläche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27832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E97132"/>
                </a:solidFill>
                <a:latin typeface="Carlito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392424"/>
            <a:ext cx="32004" cy="67665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3227832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Carlito"/>
              </a:rPr>
              <a:t>Die Faltung erfinden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78808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4343400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4178808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Den Umriss sichtbar machen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29784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5294376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5129784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Der Härtetest: jedes Licht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Jetzt ihr: Erfindet eine Rechnung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11109960" cy="20574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102870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FFFFFF"/>
                </a:solidFill>
                <a:latin typeface="Carlito"/>
              </a:rPr>
              <a:t>E — Groß am Verlauf, null auf der Fläche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Erfindet aus den neun Zahlen eine Rechnung, die am Verlauf eine große Zahl ergibt und auf der Fläche 0.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Erst allein (2 min), dann zu zweit: vergleichen, beide Felder ausrechnen. Im Heft.</a:t>
            </a:r>
          </a:p>
        </p:txBody>
      </p:sp>
      <p:pic>
        <p:nvPicPr>
          <p:cNvPr id="5" name="Picture 4" descr="07_Grafik_05a_Erfin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547" y="3291840"/>
            <a:ext cx="10129856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Eure Vorschläge — fast alle haben dieselbe Form</a:t>
            </a:r>
          </a:p>
        </p:txBody>
      </p:sp>
      <p:pic>
        <p:nvPicPr>
          <p:cNvPr id="3" name="Picture 2" descr="07_Grafik_05b_Vorschlae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24" y="932688"/>
            <a:ext cx="10996902" cy="537667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Sobel-x: rechts minus links, die Mitte doppelt — 80</a:t>
            </a:r>
          </a:p>
        </p:txBody>
      </p:sp>
      <p:pic>
        <p:nvPicPr>
          <p:cNvPr id="3" name="Picture 2" descr="07_Grafik_12_Sobel_Antw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87080"/>
            <a:ext cx="11420856" cy="526788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Faltung: Ausschnitt mal Kern, alles zusammengezählt</a:t>
            </a:r>
          </a:p>
        </p:txBody>
      </p:sp>
      <p:pic>
        <p:nvPicPr>
          <p:cNvPr id="3" name="Picture 2" descr="07_Grafik_06_Falt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59714"/>
            <a:ext cx="11420856" cy="492261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Die Gewichtssumme verrät die Frage an die Nachbarn</a:t>
            </a:r>
          </a:p>
        </p:txBody>
      </p:sp>
      <p:pic>
        <p:nvPicPr>
          <p:cNvPr id="3" name="Picture 2" descr="07_Grafik_18_Gewichtssum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60681"/>
            <a:ext cx="11420856" cy="472068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Der Kern wandert über jeden Pixel</a:t>
            </a:r>
          </a:p>
        </p:txBody>
      </p:sp>
      <p:pic>
        <p:nvPicPr>
          <p:cNvPr id="3" name="Picture 2" descr="07_Grafik_07_Kern_Wand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69088"/>
            <a:ext cx="11420856" cy="490387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25880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00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490472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63240" y="1325880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Rest DS 04: Bild und Schwelle anpassen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76856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441448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2276856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Kante und Fläche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27832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392424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3227832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Die Faltung erfinden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78808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E97132"/>
                </a:solidFill>
                <a:latin typeface="Carlito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4343400"/>
            <a:ext cx="32004" cy="67665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4178808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Carlito"/>
              </a:rPr>
              <a:t>Den Umriss sichtbar machen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29784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5294376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5129784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Der Härtetest: jedes Licht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Jetzt ihr: Macht den Umriss sichtbar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11109960" cy="20574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102870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FFFFFF"/>
                </a:solidFill>
                <a:latin typeface="Carlito"/>
              </a:rPr>
              <a:t>P2 — Ein Kantenbild mit allen Kanten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Prüft eure Erfindung und Sobel-x am Rechner: am Verlauf (80), an eurer Kante, auf eurer Fläche.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Dann das ganze Bild misch: Alle Kanten des Bauteils sollen hell sein. Den zweiten Kern baut ihr selbst.</a:t>
            </a:r>
          </a:p>
        </p:txBody>
      </p:sp>
      <p:pic>
        <p:nvPicPr>
          <p:cNvPr id="5" name="Picture 4" descr="07_Grafik_08_Code_Falt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367520"/>
            <a:ext cx="11420856" cy="277471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Der Kern entscheidet, welche Kanten hell werden</a:t>
            </a:r>
          </a:p>
        </p:txBody>
      </p:sp>
      <p:pic>
        <p:nvPicPr>
          <p:cNvPr id="3" name="Picture 2" descr="07_Grafik_13_Sobel_X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66155"/>
            <a:ext cx="11420856" cy="530973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Auf dem Filz rauscht es: erst glätten, dann Kanten</a:t>
            </a:r>
          </a:p>
        </p:txBody>
      </p:sp>
      <p:pic>
        <p:nvPicPr>
          <p:cNvPr id="3" name="Picture 2" descr="07_Grafik_22_Erst_Glaett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65269"/>
            <a:ext cx="11420856" cy="491150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25880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00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490472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63240" y="1325880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Rest DS 04: Bild und Schwelle anpassen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76856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441448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2276856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Kante und Fläche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27832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392424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3227832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Die Faltung erfinden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78808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4343400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4178808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Den Umriss sichtbar machen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29784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E97132"/>
                </a:solidFill>
                <a:latin typeface="Carlito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5294376"/>
            <a:ext cx="32004" cy="67665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5129784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Carlito"/>
              </a:rPr>
              <a:t>Der Härtetest: jedes Licht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Plus 60 oder mal 2: Was sieht das Kantenbild?</a:t>
            </a:r>
          </a:p>
        </p:txBody>
      </p:sp>
      <p:pic>
        <p:nvPicPr>
          <p:cNvPr id="3" name="Picture 2" descr="07_Grafik_15_Licht_F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32545"/>
            <a:ext cx="11420856" cy="497695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Jetzt ihr: Der Härtetest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11109960" cy="205740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102870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FFFFFF"/>
                </a:solidFill>
                <a:latin typeface="Carlito"/>
              </a:rPr>
              <a:t>P3 — Hält euer Kantenbild jedes Licht aus?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Erst tippen, dann rechnen: misch plus 60, mal 2 — dann alle vier Aufnahmen. Glättet vorher, wenn der Filz stört.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Euer Ergebnis kommt an die Tafel. Kür: Jeder Pixel bekommt seine eigene Schwelle.</a:t>
            </a:r>
          </a:p>
        </p:txBody>
      </p:sp>
      <p:pic>
        <p:nvPicPr>
          <p:cNvPr id="5" name="Picture 4" descr="07_Grafik_14b_Haerte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91" y="3291840"/>
            <a:ext cx="11225168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Plus fällt heraus, mal verdoppelt die Kanten</a:t>
            </a:r>
          </a:p>
        </p:txBody>
      </p:sp>
      <p:pic>
        <p:nvPicPr>
          <p:cNvPr id="3" name="Picture 2" descr="07_Grafik_16_Licht_Antw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98897"/>
            <a:ext cx="11420856" cy="504425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Der Umriss bleibt bei jedem Licht</a:t>
            </a:r>
          </a:p>
        </p:txBody>
      </p:sp>
      <p:pic>
        <p:nvPicPr>
          <p:cNvPr id="3" name="Picture 2" descr="07_Grafik_17_Vier_Kant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64951"/>
            <a:ext cx="11420856" cy="491214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Kür: jeder Pixel gegen seine Umgebung</a:t>
            </a:r>
          </a:p>
        </p:txBody>
      </p:sp>
      <p:pic>
        <p:nvPicPr>
          <p:cNvPr id="3" name="Picture 2" descr="07_Grafik_10_Eigene_Schwel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37790"/>
            <a:ext cx="11420855" cy="4566467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Ein Netz sucht sich seine Kerne selbst</a:t>
            </a:r>
          </a:p>
        </p:txBody>
      </p:sp>
      <p:pic>
        <p:nvPicPr>
          <p:cNvPr id="3" name="Picture 2" descr="07_Grafik_19_Net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08811"/>
            <a:ext cx="11420856" cy="462442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Ein Kantenbild ist noch kein Bauteil</a:t>
            </a:r>
          </a:p>
        </p:txBody>
      </p:sp>
      <p:pic>
        <p:nvPicPr>
          <p:cNvPr id="3" name="Picture 2" descr="07_Grafik_20_Noch_Kein_Baut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95684"/>
            <a:ext cx="11420856" cy="485067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Bis nächste Woche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109960" cy="237744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1028700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FFFFFF"/>
                </a:solidFill>
                <a:latin typeface="Carlito"/>
              </a:rPr>
              <a:t>Hausaufgabe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Drei Faltungen an einem Bauteilrand — von Hand, mit Rechenweg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Drei unbekannte Kerne: Gewichtssumme bestimmen und ihrem Bild zuordnen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55778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44546A"/>
                </a:solidFill>
                <a:latin typeface="Carlito"/>
              </a:rPr>
              <a:t>Glossar heute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44546A"/>
                </a:solidFill>
                <a:latin typeface="Carlito"/>
              </a:rPr>
              <a:t>convolution — Faltung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44546A"/>
                </a:solidFill>
                <a:latin typeface="Carlito"/>
              </a:rPr>
              <a:t>kernel — Kern, Filtermaske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44546A"/>
                </a:solidFill>
                <a:latin typeface="Carlito"/>
              </a:rPr>
              <a:t>weight — Gewicht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4114800"/>
            <a:ext cx="5303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44546A"/>
                </a:solidFill>
                <a:latin typeface="Carlito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44546A"/>
                </a:solidFill>
                <a:latin typeface="Carlito"/>
              </a:rPr>
              <a:t>smoothing, blur — Glätten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44546A"/>
                </a:solidFill>
                <a:latin typeface="Carlito"/>
              </a:rPr>
              <a:t>edge detection — Kantenerkennung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44546A"/>
                </a:solidFill>
                <a:latin typeface="Carlito"/>
              </a:rPr>
              <a:t>adaptive threshold — eigene Schwelle je Pixel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lter_misch.jpg"/>
          <p:cNvPicPr>
            <a:picLocks noChangeAspect="1"/>
          </p:cNvPicPr>
          <p:nvPr/>
        </p:nvPicPr>
        <p:blipFill>
          <a:blip r:embed="rId2"/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566160"/>
            <a:ext cx="12192000" cy="3291840"/>
          </a:xfrm>
          <a:prstGeom prst="rect">
            <a:avLst/>
          </a:prstGeom>
          <a:solidFill>
            <a:srgbClr val="1F2A3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72896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Carlito"/>
              </a:rPr>
              <a:t>Vertiefung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D9E2EC"/>
                </a:solidFill>
                <a:latin typeface="Carlito"/>
              </a:rPr>
              <a:t>Prüfungsformat · Glätten · Rand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D9E2EC"/>
                </a:solidFill>
                <a:latin typeface="Carlito"/>
              </a:rPr>
              <a:t>Median · Schärfen · Faltung oder Korrelation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Prüfungsformat: Welcher Kern war es?</a:t>
            </a:r>
          </a:p>
        </p:txBody>
      </p:sp>
      <p:pic>
        <p:nvPicPr>
          <p:cNvPr id="3" name="Picture 2" descr="07_Grafik_26_Pruefung_Aufga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17671"/>
            <a:ext cx="11420856" cy="520670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Rechts gegen links, unten gegen oben</a:t>
            </a:r>
          </a:p>
        </p:txBody>
      </p:sp>
      <p:pic>
        <p:nvPicPr>
          <p:cNvPr id="3" name="Picture 2" descr="07_Grafik_27_Pruefung_Loes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17671"/>
            <a:ext cx="11420856" cy="520670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Glätten: Mittelwert bleibt, Streuung sinkt</a:t>
            </a:r>
          </a:p>
        </p:txBody>
      </p:sp>
      <p:pic>
        <p:nvPicPr>
          <p:cNvPr id="3" name="Picture 2" descr="07_Grafik_09_Gl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54510"/>
            <a:ext cx="11420856" cy="5133026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Am Rand fehlen Nachbarn</a:t>
            </a:r>
          </a:p>
        </p:txBody>
      </p:sp>
      <p:pic>
        <p:nvPicPr>
          <p:cNvPr id="3" name="Picture 2" descr="07_Grafik_21_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39069"/>
            <a:ext cx="11420856" cy="476390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Der Median sortiert — er faltet nicht</a:t>
            </a:r>
          </a:p>
        </p:txBody>
      </p:sp>
      <p:pic>
        <p:nvPicPr>
          <p:cNvPr id="3" name="Picture 2" descr="07_Grafik_23_Med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7365"/>
            <a:ext cx="11420856" cy="4667316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Summe 1 heißt nicht glätten</a:t>
            </a:r>
          </a:p>
        </p:txBody>
      </p:sp>
      <p:pic>
        <p:nvPicPr>
          <p:cNvPr id="3" name="Picture 2" descr="07_Grafik_24_Schaerf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26328"/>
            <a:ext cx="11420856" cy="4789391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Die Mathematik dreht den Kern, OpenCV nicht</a:t>
            </a:r>
          </a:p>
        </p:txBody>
      </p:sp>
      <p:pic>
        <p:nvPicPr>
          <p:cNvPr id="3" name="Picture 2" descr="07_Grafik_25_Spiegel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57251"/>
            <a:ext cx="11420855" cy="47275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orlage_01.potx" id="{2615161D-B22D-40AD-B7B4-2C38E79497BA}" vid="{21684944-A2E8-4194-84DE-5B35D735E35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f399-1951-4138-a923-50b4bb941d1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83A5E682D44794DBB5664561E674637" ma:contentTypeVersion="8" ma:contentTypeDescription="Ein neues Dokument erstellen." ma:contentTypeScope="" ma:versionID="a80c6f6ffbc0bba0efafafc95572e9a3">
  <xsd:schema xmlns:xsd="http://www.w3.org/2001/XMLSchema" xmlns:xs="http://www.w3.org/2001/XMLSchema" xmlns:p="http://schemas.microsoft.com/office/2006/metadata/properties" xmlns:ns2="7a26f399-1951-4138-a923-50b4bb941d1d" targetNamespace="http://schemas.microsoft.com/office/2006/metadata/properties" ma:root="true" ma:fieldsID="e4c097d755a0b302fa195372abc71bbc" ns2:_="">
    <xsd:import namespace="7a26f399-1951-4138-a923-50b4bb941d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f399-1951-4138-a923-50b4bb941d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ildmarkierungen" ma:readOnly="false" ma:fieldId="{5cf76f15-5ced-4ddc-b409-7134ff3c332f}" ma:taxonomyMulti="true" ma:sspId="a5535118-14b6-4b33-a4e2-24823942350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7a26f399-1951-4138-a923-50b4bb941d1d"/>
  </ds:schemaRefs>
</ds:datastoreItem>
</file>

<file path=customXml/itemProps2.xml><?xml version="1.0" encoding="utf-8"?>
<ds:datastoreItem xmlns:ds="http://schemas.openxmlformats.org/officeDocument/2006/customXml" ds:itemID="{A0AA175D-E892-4606-BA92-760B4E4243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26f399-1951-4138-a923-50b4bb941d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677</Words>
  <Application>Microsoft Office PowerPoint</Application>
  <PresentationFormat>Breitbild</PresentationFormat>
  <Paragraphs>112</Paragraphs>
  <Slides>50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50</vt:i4>
      </vt:variant>
    </vt:vector>
  </HeadingPairs>
  <TitlesOfParts>
    <vt:vector size="56" baseType="lpstr">
      <vt:lpstr>Arial</vt:lpstr>
      <vt:lpstr>Calibri</vt:lpstr>
      <vt:lpstr>Carlito</vt:lpstr>
      <vt:lpstr>Consolas</vt:lpstr>
      <vt:lpstr>LMSans10-Regular</vt:lpstr>
      <vt:lpstr>Office</vt:lpstr>
      <vt:lpstr>Anderes Licht, dieselbe Prüfung</vt:lpstr>
      <vt:lpstr>PowerPoint-Präsentation</vt:lpstr>
      <vt:lpstr>PowerPoint-Präsentation</vt:lpstr>
      <vt:lpstr>PowerPoint-Präsentation</vt:lpstr>
      <vt:lpstr>KI-Systementwicklung</vt:lpstr>
      <vt:lpstr>Zwei Berge, ein Tal — dorthin gehört der Schwellwert</vt:lpstr>
      <vt:lpstr>Welches Bild gehört zu welchem Schwellwert?</vt:lpstr>
      <vt:lpstr>Im Tal ändert sich wenig, im Berg kippt alles</vt:lpstr>
      <vt:lpstr>Jetzt ihr: Trennt das Bauteil vom Untergrund</vt:lpstr>
      <vt:lpstr>Wenig Licht, dieselbe Schwelle: alles schwarz</vt:lpstr>
      <vt:lpstr>PowerPoint-Präsentation</vt:lpstr>
      <vt:lpstr>Zwei Wege zurück zu einer brauchbaren Maske</vt:lpstr>
      <vt:lpstr>KI-Systementwicklung</vt:lpstr>
      <vt:lpstr>Ein Graubild</vt:lpstr>
      <vt:lpstr>Ein Graubild ist eine Matrix</vt:lpstr>
      <vt:lpstr>Skalar, Vektor, Matrix, …</vt:lpstr>
      <vt:lpstr>Skalar, Vektor, Matrix, Tensor</vt:lpstr>
      <vt:lpstr>Matrix plus Skalar: Das Histogramm wandert</vt:lpstr>
      <vt:lpstr>Skalar mal Matrix: Das Histogramm wird breiter</vt:lpstr>
      <vt:lpstr>Die Kennlinie sagt, was aus jedem Grauwert wird</vt:lpstr>
      <vt:lpstr>Jetzt ihr: Die dunkle Aufnahme retten</vt:lpstr>
      <vt:lpstr>Nur plus: Der Mittelwert stimmt, die Maske bleibt leer</vt:lpstr>
      <vt:lpstr>Mal und plus: Mittelwert und Streuung wie bei misch</vt:lpstr>
      <vt:lpstr>Zu weit gedreht: Was an 255 anstößt, ist verloren</vt:lpstr>
      <vt:lpstr>Gespreizt ist nicht gemessen: Es bleiben Lücken</vt:lpstr>
      <vt:lpstr>KI-Systementwicklung</vt:lpstr>
      <vt:lpstr>Otsu sucht die Gruppen mit der kleinsten Streuung</vt:lpstr>
      <vt:lpstr>Otsu rechnet jede Schwelle durch — 128 gewinnt</vt:lpstr>
      <vt:lpstr>Vier Beleuchtungen — bei welchen kippt Otsu?</vt:lpstr>
      <vt:lpstr>Jetzt ihr: Lasst den Rechner die Schwelle finden</vt:lpstr>
      <vt:lpstr>Für die dunkle Aufnahme findet Otsu von selbst die 30</vt:lpstr>
      <vt:lpstr>KI-Systementwicklung</vt:lpstr>
      <vt:lpstr>Otsu rettet dunkel — und scheitert an hell und seitlich</vt:lpstr>
      <vt:lpstr>PowerPoint-Präsentation</vt:lpstr>
      <vt:lpstr>Bei Streiflicht passt keine einzige Schwelle</vt:lpstr>
      <vt:lpstr>Der Ausweg: Jede Stelle bekommt ihre eigene Schwelle</vt:lpstr>
      <vt:lpstr>Beide Wege kennen den Wert — nicht den Ort</vt:lpstr>
      <vt:lpstr>Der dritte Weg: Das Netz lernt jedes Licht</vt:lpstr>
      <vt:lpstr>Vor jedem Netz steht eine Punktoperation</vt:lpstr>
      <vt:lpstr>Bis nächste Woche</vt:lpstr>
      <vt:lpstr>PowerPoint-Präsentation</vt:lpstr>
      <vt:lpstr>Gamma ist eine Potenz — kein fester Faktor</vt:lpstr>
      <vt:lpstr>Gamma hellt die Schatten auf — nichts brennt aus</vt:lpstr>
      <vt:lpstr>Aufsummiert wird das Histogramm zur Kennlinie</vt:lpstr>
      <vt:lpstr>Der Ausgleich spreizt alles — auch das Rauschen</vt:lpstr>
      <vt:lpstr>Otsu rechnet jede Schwelle durch — 128 gewinnt</vt:lpstr>
      <vt:lpstr>Prüfungsformat: Welche Kennlinie war es?</vt:lpstr>
      <vt:lpstr>Das Histogramm verrät die Kennlinie</vt:lpstr>
      <vt:lpstr>Acht Fassungen — welche sind Punktoperationen?</vt:lpstr>
      <vt:lpstr>Punktoperationen stecken in jeder Foto-App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Mödl Tobias</dc:creator>
  <cp:lastModifiedBy>Sebastian Schaffenroth</cp:lastModifiedBy>
  <cp:revision>12</cp:revision>
  <dcterms:created xsi:type="dcterms:W3CDTF">2025-03-19T14:45:56Z</dcterms:created>
  <dcterms:modified xsi:type="dcterms:W3CDTF">2026-10-12T12:42:51Z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0x010100D83A5E682D44794DBB5664561E674637</vt:lpwstr>
  </property>
  <property fmtid="{D5CDD505-2E9C-101B-9397-08002B2CF9AE}" pid="3" name="MediaServiceImageTags">
    <vt:lpwstr/>
  </property>
</Properties>
</file>