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304" r:id="rId19"/>
    <p:sldId id="271" r:id="rId20"/>
    <p:sldId id="272" r:id="rId21"/>
    <p:sldId id="273" r:id="rId22"/>
    <p:sldId id="274" r:id="rId23"/>
    <p:sldId id="293" r:id="rId24"/>
    <p:sldId id="299" r:id="rId25"/>
    <p:sldId id="300" r:id="rId26"/>
    <p:sldId id="301" r:id="rId27"/>
    <p:sldId id="302" r:id="rId28"/>
    <p:sldId id="294" r:id="rId29"/>
    <p:sldId id="295" r:id="rId30"/>
    <p:sldId id="296" r:id="rId31"/>
    <p:sldId id="297" r:id="rId32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7"/>
      </p:cViewPr>
      <p:guideLst>
        <p:guide orient="horz" pos="2160"/>
        <p:guide pos="42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13.10.2026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13.10.2026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13.10.2026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13.10.2026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13.10.2026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13.10.2026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13.10.2026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13.10.2026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13.10.2026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[Name], [Vorname] | [Thema]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rlito"/>
              </a:rPr>
              <a:t>Anderes Licht, dieselbe Prüfung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rlito"/>
              </a:rPr>
              <a:t>Punktoperationen und Schwellwert · DS 04 · 13.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04_station_morgen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D9E2EC"/>
                </a:solidFill>
                <a:latin typeface="Carlito"/>
              </a:rPr>
              <a:t>8 Uhr</a:t>
            </a:r>
          </a:p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rlito"/>
              </a:rPr>
              <a:t>Die Prüfstation sortiert richtig.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04_station_abend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D9E2EC"/>
                </a:solidFill>
                <a:latin typeface="Carlito"/>
              </a:rPr>
              <a:t>16 Uhr, Dezember</a:t>
            </a:r>
          </a:p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rlito"/>
              </a:rPr>
              <a:t>Dieselbe Station wirft jedes Teil aus.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04_ausschuss_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rlito"/>
              </a:rPr>
              <a:t>Die Kiste ist voll mit guten Teilen.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D9E2EC"/>
                </a:solidFill>
                <a:latin typeface="Carlito"/>
              </a:rPr>
              <a:t>Am Bauteil hat sich nichts geändert — nur am Licht.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Eure Schwellwerte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Weg 1: Das Bild anpassen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Weg 2: Die Schwelle anpassen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Was beide Wege nicht können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Zwei Berge, ein Tal — dorthin gehört der Schwellwert</a:t>
            </a:r>
          </a:p>
        </p:txBody>
      </p:sp>
      <p:pic>
        <p:nvPicPr>
          <p:cNvPr id="3" name="Picture 2" descr="07_Grafik_02_HA_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39728"/>
            <a:ext cx="11420856" cy="45625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Welches Bild gehört zu welchem Schwellwert?</a:t>
            </a:r>
          </a:p>
        </p:txBody>
      </p:sp>
      <p:pic>
        <p:nvPicPr>
          <p:cNvPr id="3" name="Picture 2" descr="07_Grafik_03_HA_Vier_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31067"/>
            <a:ext cx="11420856" cy="49799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Im Tal ändert sich wenig, im Berg kippt alles</a:t>
            </a:r>
          </a:p>
        </p:txBody>
      </p:sp>
      <p:pic>
        <p:nvPicPr>
          <p:cNvPr id="3" name="Picture 2" descr="07_Grafik_04_HA_Vier_Antw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31067"/>
            <a:ext cx="11420856" cy="49799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Trennt das Bauteil vom Untergrund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057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200534"/>
            <a:ext cx="10287000" cy="175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 dirty="0">
                <a:solidFill>
                  <a:srgbClr val="FFFFFF"/>
                </a:solidFill>
                <a:latin typeface="Carlito"/>
              </a:rPr>
              <a:t>P1 — Macht das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Bauteil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 schwarz-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weiß</a:t>
            </a:r>
            <a:endParaRPr sz="3000" b="1" dirty="0">
              <a:solidFill>
                <a:srgbClr val="FFFFFF"/>
              </a:solidFill>
              <a:latin typeface="Carlito"/>
            </a:endParaRPr>
          </a:p>
          <a:p>
            <a:pPr>
              <a:spcAft>
                <a:spcPts val="800"/>
              </a:spcAft>
            </a:pPr>
            <a:r>
              <a:rPr sz="1900" dirty="0" err="1">
                <a:solidFill>
                  <a:srgbClr val="FFFFFF"/>
                </a:solidFill>
                <a:latin typeface="Carlito"/>
              </a:rPr>
              <a:t>Erstellt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das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Histogramm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von </a:t>
            </a:r>
            <a:r>
              <a:rPr sz="3200" b="1" dirty="0">
                <a:solidFill>
                  <a:srgbClr val="92D050"/>
                </a:solidFill>
                <a:latin typeface="Carlito"/>
              </a:rPr>
              <a:t>misch</a:t>
            </a:r>
            <a:r>
              <a:rPr sz="1900" dirty="0">
                <a:solidFill>
                  <a:srgbClr val="FFFFFF"/>
                </a:solidFill>
                <a:latin typeface="Carlito"/>
              </a:rPr>
              <a:t>,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legt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einen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Schwellwert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fest und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macht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das Bild schwarz-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weiß</a:t>
            </a:r>
            <a:r>
              <a:rPr sz="1900" dirty="0">
                <a:solidFill>
                  <a:srgbClr val="FFFFFF"/>
                </a:solidFill>
                <a:latin typeface="Carlito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Dann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dieselbe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Schwelle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auf </a:t>
            </a:r>
            <a:r>
              <a:rPr sz="2800" dirty="0" err="1">
                <a:solidFill>
                  <a:schemeClr val="accent3">
                    <a:lumMod val="75000"/>
                  </a:schemeClr>
                </a:solidFill>
                <a:latin typeface="Carlito"/>
              </a:rPr>
              <a:t>dunkel</a:t>
            </a:r>
            <a:r>
              <a:rPr sz="1900" dirty="0">
                <a:solidFill>
                  <a:srgbClr val="FFFFFF"/>
                </a:solidFill>
                <a:latin typeface="Carlito"/>
              </a:rPr>
              <a:t>: Was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kommt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heraus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— und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warum</a:t>
            </a:r>
            <a:r>
              <a:rPr sz="1900" dirty="0">
                <a:solidFill>
                  <a:srgbClr val="FFFFFF"/>
                </a:solidFill>
                <a:latin typeface="Carlito"/>
              </a:rPr>
              <a:t>?</a:t>
            </a:r>
          </a:p>
        </p:txBody>
      </p:sp>
      <p:pic>
        <p:nvPicPr>
          <p:cNvPr id="5" name="Picture 4" descr="07_Grafik_05a_Aufwaer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19" y="3291840"/>
            <a:ext cx="10147112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Wenig Licht, dieselbe Schwelle: alles schwarz</a:t>
            </a:r>
          </a:p>
        </p:txBody>
      </p:sp>
      <p:pic>
        <p:nvPicPr>
          <p:cNvPr id="3" name="Picture 2" descr="07_Grafik_05_Dunkel_Schwar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66975"/>
            <a:ext cx="11420856" cy="49080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04_kamera_nah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Die Frage der Stunde</a:t>
            </a:r>
          </a:p>
          <a:p>
            <a:pPr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Carlito"/>
              </a:rPr>
              <a:t>Anderes Licht, dieselbe Prüfung:</a:t>
            </a:r>
          </a:p>
          <a:p>
            <a:pPr>
              <a:spcAft>
                <a:spcPts val="1000"/>
              </a:spcAft>
            </a:pPr>
            <a:r>
              <a:rPr sz="3600" b="1">
                <a:solidFill>
                  <a:srgbClr val="FFB380"/>
                </a:solidFill>
                <a:latin typeface="Carlito"/>
              </a:rPr>
              <a:t>Passt ihr das Bild an — oder die Schwelle?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Zwei Wege zurück zu einer brauchbaren Maske</a:t>
            </a:r>
          </a:p>
        </p:txBody>
      </p:sp>
      <p:pic>
        <p:nvPicPr>
          <p:cNvPr id="3" name="Picture 2" descr="07_Grafik_06_Zwei_W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48022"/>
            <a:ext cx="11420856" cy="49460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Eure Schwellwerte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Weg 1: Das Bild anpassen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Weg 2: Die Schwelle anpassen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Was beide Wege nicht können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 Graubild ist eine Matrix</a:t>
            </a:r>
          </a:p>
        </p:txBody>
      </p:sp>
      <p:pic>
        <p:nvPicPr>
          <p:cNvPr id="3" name="Picture 2" descr="07_Grafik_07m1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04337"/>
            <a:ext cx="11420856" cy="44333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9380B-F23D-9DBF-CCFA-71B0C021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D513-8576-DAA0-774A-009FC77B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Skalar, Vektor, Matrix, Tensor</a:t>
            </a:r>
          </a:p>
        </p:txBody>
      </p:sp>
      <p:pic>
        <p:nvPicPr>
          <p:cNvPr id="3" name="Picture 2" descr="07_Grafik_07m2_Ueberblick.png">
            <a:extLst>
              <a:ext uri="{FF2B5EF4-FFF2-40B4-BE49-F238E27FC236}">
                <a16:creationId xmlns:a16="http://schemas.microsoft.com/office/drawing/2014/main" id="{346245FC-7C9D-E94B-5989-19A5AFDA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68325"/>
            <a:ext cx="11420856" cy="530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41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Matrix plus Skalar: Das Histogramm wandert</a:t>
            </a:r>
          </a:p>
        </p:txBody>
      </p:sp>
      <p:pic>
        <p:nvPicPr>
          <p:cNvPr id="3" name="Picture 2" descr="07_Grafik_07m3_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7" y="1125232"/>
            <a:ext cx="11420856" cy="49915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Skalar mal Matrix: Das Histogramm wird breiter</a:t>
            </a:r>
          </a:p>
        </p:txBody>
      </p:sp>
      <p:pic>
        <p:nvPicPr>
          <p:cNvPr id="3" name="Picture 2" descr="07_Grafik_07m4_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7" y="1125232"/>
            <a:ext cx="11420856" cy="49915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Kennlinie sagt, was aus jedem Grauwert wird</a:t>
            </a:r>
          </a:p>
        </p:txBody>
      </p:sp>
      <p:pic>
        <p:nvPicPr>
          <p:cNvPr id="3" name="Picture 2" descr="07_Grafik_08_Kennli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03976"/>
            <a:ext cx="11420856" cy="50340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Die dunkle Aufnahme retten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057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87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P2 — Weg 1: Passt das Bild an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Bearbeitet dunkel so, dass sie die Helligkeit nutzt wie misch: gleicher Mittelwert, gleiche Streuung.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Gesucht sind c und d in  B = c · A + d.  Greift eure Schwelle danach wieder?</a:t>
            </a:r>
          </a:p>
        </p:txBody>
      </p:sp>
      <p:pic>
        <p:nvPicPr>
          <p:cNvPr id="5" name="Picture 4" descr="07_Grafik_13b_Code_Rechn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37330"/>
            <a:ext cx="11420856" cy="28350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04_station_morgen_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rlito"/>
              </a:rPr>
              <a:t>Vertiefung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Wenn Zeit bleibt: Gamma · Histogrammausgleich · Otsu im Detail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Prüfungsformat · Punktoperationen im Alltag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Prüfungsformat: Welche Kennlinie war es?</a:t>
            </a:r>
          </a:p>
        </p:txBody>
      </p:sp>
      <p:pic>
        <p:nvPicPr>
          <p:cNvPr id="3" name="Picture 2" descr="07_Grafik_23_Pruefung_Aufg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24078"/>
            <a:ext cx="11420856" cy="49938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Das Histogramm verrät die Kennlinie</a:t>
            </a:r>
          </a:p>
        </p:txBody>
      </p:sp>
      <p:pic>
        <p:nvPicPr>
          <p:cNvPr id="3" name="Picture 2" descr="07_Grafik_24_Pruefung_Loe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24078"/>
            <a:ext cx="11420856" cy="49938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Acht Fassungen — welche sind Punktoperationen?</a:t>
            </a:r>
          </a:p>
        </p:txBody>
      </p:sp>
      <p:pic>
        <p:nvPicPr>
          <p:cNvPr id="3" name="Picture 2" descr="07_Grafik_25_Ausblick_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93447"/>
            <a:ext cx="11420856" cy="48551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Punktoperationen stecken in jeder Foto-App</a:t>
            </a:r>
          </a:p>
        </p:txBody>
      </p:sp>
      <p:pic>
        <p:nvPicPr>
          <p:cNvPr id="3" name="Picture 2" descr="07_Grafik_26_Ausblick_Antw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93447"/>
            <a:ext cx="11420856" cy="48551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Gamma ist eine Potenz — kein fester Faktor</a:t>
            </a:r>
          </a:p>
        </p:txBody>
      </p:sp>
      <p:pic>
        <p:nvPicPr>
          <p:cNvPr id="3" name="Picture 2" descr="07_Grafik_13a_Gamma_Form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11937"/>
            <a:ext cx="11420856" cy="481817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Gamma hellt die Schatten auf — nichts brennt aus</a:t>
            </a:r>
          </a:p>
        </p:txBody>
      </p:sp>
      <p:pic>
        <p:nvPicPr>
          <p:cNvPr id="3" name="Picture 2" descr="07_Grafik_14_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40509"/>
            <a:ext cx="11420856" cy="47610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Aufsummiert wird das Histogramm zur Kennlinie</a:t>
            </a:r>
          </a:p>
        </p:txBody>
      </p:sp>
      <p:pic>
        <p:nvPicPr>
          <p:cNvPr id="3" name="Picture 2" descr="07_Grafik_14a_Ausgleich_Verfah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89247"/>
            <a:ext cx="11420856" cy="506355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Ausgleich spreizt alles — auch das Rauschen</a:t>
            </a:r>
          </a:p>
        </p:txBody>
      </p:sp>
      <p:pic>
        <p:nvPicPr>
          <p:cNvPr id="3" name="Picture 2" descr="07_Grafik_15_Ausgle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57702"/>
            <a:ext cx="11420856" cy="49266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f399-1951-4138-a923-50b4bb941d1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3A5E682D44794DBB5664561E674637" ma:contentTypeVersion="8" ma:contentTypeDescription="Ein neues Dokument erstellen." ma:contentTypeScope="" ma:versionID="a80c6f6ffbc0bba0efafafc95572e9a3">
  <xsd:schema xmlns:xsd="http://www.w3.org/2001/XMLSchema" xmlns:xs="http://www.w3.org/2001/XMLSchema" xmlns:p="http://schemas.microsoft.com/office/2006/metadata/properties" xmlns:ns2="7a26f399-1951-4138-a923-50b4bb941d1d" targetNamespace="http://schemas.microsoft.com/office/2006/metadata/properties" ma:root="true" ma:fieldsID="e4c097d755a0b302fa195372abc71bbc" ns2:_="">
    <xsd:import namespace="7a26f399-1951-4138-a923-50b4bb941d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f399-1951-4138-a923-50b4bb941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a5535118-14b6-4b33-a4e2-2482394235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7a26f399-1951-4138-a923-50b4bb941d1d"/>
  </ds:schemaRefs>
</ds:datastoreItem>
</file>

<file path=customXml/itemProps3.xml><?xml version="1.0" encoding="utf-8"?>
<ds:datastoreItem xmlns:ds="http://schemas.openxmlformats.org/officeDocument/2006/customXml" ds:itemID="{A0AA175D-E892-4606-BA92-760B4E4243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6f399-1951-4138-a923-50b4bb941d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368</Words>
  <Application>Microsoft Office PowerPoint</Application>
  <PresentationFormat>Breitbild</PresentationFormat>
  <Paragraphs>58</Paragraphs>
  <Slides>28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4" baseType="lpstr">
      <vt:lpstr>Arial</vt:lpstr>
      <vt:lpstr>Calibri</vt:lpstr>
      <vt:lpstr>Carlito</vt:lpstr>
      <vt:lpstr>Consolas</vt:lpstr>
      <vt:lpstr>LMSans10-Regular</vt:lpstr>
      <vt:lpstr>Office</vt:lpstr>
      <vt:lpstr>Anderes Licht, dieselbe Prüfung</vt:lpstr>
      <vt:lpstr>PowerPoint-Präsentation</vt:lpstr>
      <vt:lpstr>PowerPoint-Präsentation</vt:lpstr>
      <vt:lpstr>PowerPoint-Präsentation</vt:lpstr>
      <vt:lpstr>KI-Systementwicklung</vt:lpstr>
      <vt:lpstr>Zwei Berge, ein Tal — dorthin gehört der Schwellwert</vt:lpstr>
      <vt:lpstr>Welches Bild gehört zu welchem Schwellwert?</vt:lpstr>
      <vt:lpstr>Im Tal ändert sich wenig, im Berg kippt alles</vt:lpstr>
      <vt:lpstr>Jetzt ihr: Trennt das Bauteil vom Untergrund</vt:lpstr>
      <vt:lpstr>Wenig Licht, dieselbe Schwelle: alles schwarz</vt:lpstr>
      <vt:lpstr>PowerPoint-Präsentation</vt:lpstr>
      <vt:lpstr>Zwei Wege zurück zu einer brauchbaren Maske</vt:lpstr>
      <vt:lpstr>KI-Systementwicklung</vt:lpstr>
      <vt:lpstr>Ein Graubild ist eine Matrix</vt:lpstr>
      <vt:lpstr>Skalar, Vektor, Matrix, Tensor</vt:lpstr>
      <vt:lpstr>Matrix plus Skalar: Das Histogramm wandert</vt:lpstr>
      <vt:lpstr>Skalar mal Matrix: Das Histogramm wird breiter</vt:lpstr>
      <vt:lpstr>Die Kennlinie sagt, was aus jedem Grauwert wird</vt:lpstr>
      <vt:lpstr>Jetzt ihr: Die dunkle Aufnahme retten</vt:lpstr>
      <vt:lpstr>PowerPoint-Präsentation</vt:lpstr>
      <vt:lpstr>Prüfungsformat: Welche Kennlinie war es?</vt:lpstr>
      <vt:lpstr>Das Histogramm verrät die Kennlinie</vt:lpstr>
      <vt:lpstr>Acht Fassungen — welche sind Punktoperationen?</vt:lpstr>
      <vt:lpstr>Punktoperationen stecken in jeder Foto-App</vt:lpstr>
      <vt:lpstr>Gamma ist eine Potenz — kein fester Faktor</vt:lpstr>
      <vt:lpstr>Gamma hellt die Schatten auf — nichts brennt aus</vt:lpstr>
      <vt:lpstr>Aufsummiert wird das Histogramm zur Kennlinie</vt:lpstr>
      <vt:lpstr>Der Ausgleich spreizt alles — auch das Rauschen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Mödl Tobias</dc:creator>
  <cp:lastModifiedBy>Sebastian Schaffenroth</cp:lastModifiedBy>
  <cp:revision>12</cp:revision>
  <dcterms:created xsi:type="dcterms:W3CDTF">2025-03-19T14:45:56Z</dcterms:created>
  <dcterms:modified xsi:type="dcterms:W3CDTF">2026-10-13T11:17:40Z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0x010100D83A5E682D44794DBB5664561E674637</vt:lpwstr>
  </property>
  <property fmtid="{D5CDD505-2E9C-101B-9397-08002B2CF9AE}" pid="3" name="MediaServiceImageTags">
    <vt:lpwstr/>
  </property>
</Properties>
</file>