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2" r:id="rId4"/>
  </p:sldMasterIdLst>
  <p:notesMasterIdLst>
    <p:notesMasterId r:id="rId7"/>
  </p:notesMasterIdLst>
  <p:handoutMasterIdLst>
    <p:handoutMasterId r:id="rId8"/>
  </p:handoutMasterIdLst>
  <p:sldIdLst>
    <p:sldId id="256" r:id="rId6"/>
    <p:sldId id="257" r:id="rId5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</p:sldIdLst>
  <p:sldSz cx="12192000" cy="6858000"/>
  <p:notesSz cx="6858000" cy="9144000"/>
  <p:defaultTextStyle>
    <a:defPPr rtl="0"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29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990C"/>
    <a:srgbClr val="CD1313"/>
    <a:srgbClr val="194383"/>
    <a:srgbClr val="FF9327"/>
    <a:srgbClr val="D9D9D9"/>
    <a:srgbClr val="FF7F00"/>
    <a:srgbClr val="0F9A0C"/>
    <a:srgbClr val="E7E6E4"/>
    <a:srgbClr val="BABECE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114" y="114"/>
      </p:cViewPr>
      <p:guideLst>
        <p:guide orient="horz" pos="2160"/>
        <p:guide pos="4294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5D51D2-ADCD-4092-BFAC-B3B920D83F85}" type="datetime1">
              <a:rPr lang="de-DE" smtClean="0"/>
              <a:t>12.09.2026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3EE615-04DF-4142-8B33-EF0FCE4F93E5}" type="datetime1">
              <a:rPr lang="de-DE" smtClean="0"/>
              <a:pPr/>
              <a:t>12.09.2026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-DE" noProof="0" dirty="0"/>
              <a:t>Textmasterformate durch Klicken bearbeiten</a:t>
            </a:r>
          </a:p>
          <a:p>
            <a:pPr lvl="1" rtl="0"/>
            <a:r>
              <a:rPr lang="de-DE" noProof="0" dirty="0"/>
              <a:t>Zweite Ebene</a:t>
            </a:r>
          </a:p>
          <a:p>
            <a:pPr lvl="2" rtl="0"/>
            <a:r>
              <a:rPr lang="de-DE" noProof="0" dirty="0"/>
              <a:t>Dritte Ebene</a:t>
            </a:r>
          </a:p>
          <a:p>
            <a:pPr lvl="3" rtl="0"/>
            <a:r>
              <a:rPr lang="de-DE" noProof="0" dirty="0"/>
              <a:t>Vierte Ebene</a:t>
            </a:r>
          </a:p>
          <a:p>
            <a:pPr lvl="4" rtl="0"/>
            <a:r>
              <a:rPr lang="de-DE" noProof="0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de-DE" noProof="0" smtClean="0"/>
              <a:t>‹Nr.›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fik 17" descr="Ein Bild, das weiß, Design, Kunst enthält.&#10;&#10;KI-generierte Inhalte können fehlerhaft sein.">
            <a:extLst>
              <a:ext uri="{FF2B5EF4-FFF2-40B4-BE49-F238E27FC236}">
                <a16:creationId xmlns:a16="http://schemas.microsoft.com/office/drawing/2014/main" id="{DBD8102E-E41E-1226-5FCC-07A17AF777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27"/>
          <a:stretch/>
        </p:blipFill>
        <p:spPr>
          <a:xfrm>
            <a:off x="0" y="0"/>
            <a:ext cx="12192000" cy="69913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026FA2-D656-5742-A409-0FD791FF48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8140" y="1801653"/>
            <a:ext cx="8735060" cy="228314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1A2D62C-011C-421D-A137-5CDD11ADFC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8140" y="4188778"/>
            <a:ext cx="8735060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2309768-3AB1-C2F3-0AF1-DE2EAC4825BB}"/>
              </a:ext>
            </a:extLst>
          </p:cNvPr>
          <p:cNvCxnSpPr>
            <a:cxnSpLocks/>
          </p:cNvCxnSpPr>
          <p:nvPr userDrawn="1"/>
        </p:nvCxnSpPr>
        <p:spPr>
          <a:xfrm>
            <a:off x="358140" y="4139407"/>
            <a:ext cx="5334000" cy="0"/>
          </a:xfrm>
          <a:prstGeom prst="line">
            <a:avLst/>
          </a:prstGeom>
          <a:ln w="28575" cap="rnd">
            <a:solidFill>
              <a:srgbClr val="FF7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19A9DA63-AB07-ECFA-6D56-3DE755E1BA41}"/>
              </a:ext>
            </a:extLst>
          </p:cNvPr>
          <p:cNvSpPr/>
          <p:nvPr userDrawn="1"/>
        </p:nvSpPr>
        <p:spPr>
          <a:xfrm>
            <a:off x="8111537" y="6044596"/>
            <a:ext cx="3022900" cy="61621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räne 4">
            <a:extLst>
              <a:ext uri="{FF2B5EF4-FFF2-40B4-BE49-F238E27FC236}">
                <a16:creationId xmlns:a16="http://schemas.microsoft.com/office/drawing/2014/main" id="{C7AC6466-164E-CD8B-9243-EAB9F6107127}"/>
              </a:ext>
            </a:extLst>
          </p:cNvPr>
          <p:cNvSpPr/>
          <p:nvPr userDrawn="1"/>
        </p:nvSpPr>
        <p:spPr>
          <a:xfrm>
            <a:off x="9397013" y="5018928"/>
            <a:ext cx="1016143" cy="1016143"/>
          </a:xfrm>
          <a:prstGeom prst="teardrop">
            <a:avLst/>
          </a:prstGeom>
          <a:solidFill>
            <a:srgbClr val="CD1313">
              <a:alpha val="7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: obere Ecken abgerundet 5">
            <a:extLst>
              <a:ext uri="{FF2B5EF4-FFF2-40B4-BE49-F238E27FC236}">
                <a16:creationId xmlns:a16="http://schemas.microsoft.com/office/drawing/2014/main" id="{67E45C4F-6AC9-81FE-9FB6-4F5396A27C54}"/>
              </a:ext>
            </a:extLst>
          </p:cNvPr>
          <p:cNvSpPr/>
          <p:nvPr userDrawn="1"/>
        </p:nvSpPr>
        <p:spPr>
          <a:xfrm rot="5400000">
            <a:off x="9852780" y="4762939"/>
            <a:ext cx="1842033" cy="7212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F990C">
              <a:alpha val="4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räne 6">
            <a:extLst>
              <a:ext uri="{FF2B5EF4-FFF2-40B4-BE49-F238E27FC236}">
                <a16:creationId xmlns:a16="http://schemas.microsoft.com/office/drawing/2014/main" id="{59C12670-0B71-961E-622A-BDBA91DA679A}"/>
              </a:ext>
            </a:extLst>
          </p:cNvPr>
          <p:cNvSpPr/>
          <p:nvPr userDrawn="1"/>
        </p:nvSpPr>
        <p:spPr>
          <a:xfrm>
            <a:off x="11134437" y="3973644"/>
            <a:ext cx="1842034" cy="1842034"/>
          </a:xfrm>
          <a:prstGeom prst="teardrop">
            <a:avLst/>
          </a:prstGeom>
          <a:solidFill>
            <a:srgbClr val="1943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räne 8">
            <a:extLst>
              <a:ext uri="{FF2B5EF4-FFF2-40B4-BE49-F238E27FC236}">
                <a16:creationId xmlns:a16="http://schemas.microsoft.com/office/drawing/2014/main" id="{834475F0-DE9C-7713-DF73-43F9397771FB}"/>
              </a:ext>
            </a:extLst>
          </p:cNvPr>
          <p:cNvSpPr/>
          <p:nvPr userDrawn="1"/>
        </p:nvSpPr>
        <p:spPr>
          <a:xfrm rot="16200000">
            <a:off x="11134437" y="5815678"/>
            <a:ext cx="1133763" cy="1133763"/>
          </a:xfrm>
          <a:prstGeom prst="teardrop">
            <a:avLst/>
          </a:prstGeom>
          <a:solidFill>
            <a:srgbClr val="0F990C">
              <a:alpha val="7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CF954D0-37F6-2F2C-66E6-31263A2696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6690" y="399119"/>
            <a:ext cx="8321964" cy="97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4717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38">
          <p15:clr>
            <a:srgbClr val="FBAE40"/>
          </p15:clr>
        </p15:guide>
        <p15:guide id="2" pos="588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fik 19" descr="Ein Bild, das weiß, Design, Kunst enthält.&#10;&#10;KI-generierte Inhalte können fehlerhaft sein.">
            <a:extLst>
              <a:ext uri="{FF2B5EF4-FFF2-40B4-BE49-F238E27FC236}">
                <a16:creationId xmlns:a16="http://schemas.microsoft.com/office/drawing/2014/main" id="{4CD12FE6-BACC-8D6C-9611-18479E6042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27"/>
          <a:stretch/>
        </p:blipFill>
        <p:spPr>
          <a:xfrm>
            <a:off x="0" y="0"/>
            <a:ext cx="12192000" cy="6991350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E256F9DF-099C-5027-D9A5-DC9B379D3C4A}"/>
              </a:ext>
            </a:extLst>
          </p:cNvPr>
          <p:cNvSpPr/>
          <p:nvPr userDrawn="1"/>
        </p:nvSpPr>
        <p:spPr>
          <a:xfrm flipV="1">
            <a:off x="0" y="3342071"/>
            <a:ext cx="9372600" cy="258508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338DFD7-58B3-4BAC-6325-1555006EFB38}"/>
              </a:ext>
            </a:extLst>
          </p:cNvPr>
          <p:cNvSpPr/>
          <p:nvPr userDrawn="1"/>
        </p:nvSpPr>
        <p:spPr>
          <a:xfrm flipV="1">
            <a:off x="0" y="3342071"/>
            <a:ext cx="9372600" cy="2585085"/>
          </a:xfrm>
          <a:prstGeom prst="rect">
            <a:avLst/>
          </a:prstGeom>
          <a:solidFill>
            <a:srgbClr val="C7CA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20946" y="3731322"/>
            <a:ext cx="9036513" cy="830581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algn="l">
              <a:defRPr sz="3600" b="1" spc="200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rtl="0"/>
            <a:r>
              <a:rPr lang="de-DE" noProof="0" dirty="0"/>
              <a:t>Mastertitelformat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45586" y="4705360"/>
            <a:ext cx="9036513" cy="1002020"/>
          </a:xfrm>
          <a:prstGeom prst="rect">
            <a:avLst/>
          </a:prstGeo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de-DE" noProof="0" dirty="0"/>
              <a:t>Master-Untertitelformat bearbeiten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51FBC56-60D7-4730-1A65-135F655549E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6690" y="399119"/>
            <a:ext cx="8321964" cy="97462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iederung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5831A71-98A1-CB88-1AC0-AE0D21D65980}"/>
              </a:ext>
            </a:extLst>
          </p:cNvPr>
          <p:cNvCxnSpPr>
            <a:cxnSpLocks/>
          </p:cNvCxnSpPr>
          <p:nvPr userDrawn="1"/>
        </p:nvCxnSpPr>
        <p:spPr>
          <a:xfrm>
            <a:off x="985419" y="1881487"/>
            <a:ext cx="2705100" cy="0"/>
          </a:xfrm>
          <a:prstGeom prst="line">
            <a:avLst/>
          </a:prstGeom>
          <a:ln w="28575" cap="rnd">
            <a:solidFill>
              <a:srgbClr val="FF93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platzhalter 27">
            <a:extLst>
              <a:ext uri="{FF2B5EF4-FFF2-40B4-BE49-F238E27FC236}">
                <a16:creationId xmlns:a16="http://schemas.microsoft.com/office/drawing/2014/main" id="{C410E52D-A003-3CAC-08F2-8710D0B73F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5419" y="1513189"/>
            <a:ext cx="9720072" cy="3683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019C591D-864B-EE86-1040-91432FB76C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4884" y="1881321"/>
            <a:ext cx="9720071" cy="1008062"/>
          </a:xfrm>
          <a:prstGeom prst="rect">
            <a:avLst/>
          </a:prstGeom>
        </p:spPr>
        <p:txBody>
          <a:bodyPr/>
          <a:lstStyle>
            <a:lvl2pPr>
              <a:defRPr/>
            </a:lvl2pPr>
            <a:lvl3pPr marL="310896" indent="0">
              <a:buNone/>
              <a:defRPr/>
            </a:lvl3pPr>
          </a:lstStyle>
          <a:p>
            <a:pPr lvl="1"/>
            <a:r>
              <a:rPr lang="de-DE" dirty="0"/>
              <a:t>Zweite Ebene</a:t>
            </a:r>
          </a:p>
          <a:p>
            <a:pPr lvl="1"/>
            <a:endParaRPr lang="de-DE" dirty="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0C3BC8E3-61C8-BD39-05E4-F8FA82E94583}"/>
              </a:ext>
            </a:extLst>
          </p:cNvPr>
          <p:cNvCxnSpPr>
            <a:cxnSpLocks/>
          </p:cNvCxnSpPr>
          <p:nvPr userDrawn="1"/>
        </p:nvCxnSpPr>
        <p:spPr>
          <a:xfrm>
            <a:off x="985419" y="3335168"/>
            <a:ext cx="2705100" cy="0"/>
          </a:xfrm>
          <a:prstGeom prst="line">
            <a:avLst/>
          </a:prstGeom>
          <a:ln w="28575" cap="rnd">
            <a:solidFill>
              <a:srgbClr val="FF93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platzhalter 27">
            <a:extLst>
              <a:ext uri="{FF2B5EF4-FFF2-40B4-BE49-F238E27FC236}">
                <a16:creationId xmlns:a16="http://schemas.microsoft.com/office/drawing/2014/main" id="{4A12A037-A41B-61EA-7502-2EF45D6D4F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85419" y="2966870"/>
            <a:ext cx="9719536" cy="3683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3" name="Textplatzhalter 29">
            <a:extLst>
              <a:ext uri="{FF2B5EF4-FFF2-40B4-BE49-F238E27FC236}">
                <a16:creationId xmlns:a16="http://schemas.microsoft.com/office/drawing/2014/main" id="{5BAD0ADE-435A-92A5-1EF2-3250A88132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84885" y="3335002"/>
            <a:ext cx="9719536" cy="1008062"/>
          </a:xfrm>
          <a:prstGeom prst="rect">
            <a:avLst/>
          </a:prstGeom>
        </p:spPr>
        <p:txBody>
          <a:bodyPr/>
          <a:lstStyle>
            <a:lvl2pPr>
              <a:defRPr/>
            </a:lvl2pPr>
            <a:lvl3pPr marL="310896" indent="0">
              <a:buNone/>
              <a:defRPr/>
            </a:lvl3pPr>
          </a:lstStyle>
          <a:p>
            <a:pPr lvl="1"/>
            <a:r>
              <a:rPr lang="de-DE" dirty="0"/>
              <a:t>Zweite Ebene</a:t>
            </a:r>
          </a:p>
          <a:p>
            <a:pPr lvl="1"/>
            <a:endParaRPr lang="de-DE" dirty="0"/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7065094F-5D4E-74D9-1D89-4DA6AABCAB49}"/>
              </a:ext>
            </a:extLst>
          </p:cNvPr>
          <p:cNvCxnSpPr>
            <a:cxnSpLocks/>
          </p:cNvCxnSpPr>
          <p:nvPr userDrawn="1"/>
        </p:nvCxnSpPr>
        <p:spPr>
          <a:xfrm>
            <a:off x="985419" y="4788849"/>
            <a:ext cx="2705100" cy="0"/>
          </a:xfrm>
          <a:prstGeom prst="line">
            <a:avLst/>
          </a:prstGeom>
          <a:ln w="28575" cap="rnd">
            <a:solidFill>
              <a:srgbClr val="FF93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platzhalter 27">
            <a:extLst>
              <a:ext uri="{FF2B5EF4-FFF2-40B4-BE49-F238E27FC236}">
                <a16:creationId xmlns:a16="http://schemas.microsoft.com/office/drawing/2014/main" id="{9CDD1638-0FD1-67CB-EA36-44A54652DC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85419" y="4420551"/>
            <a:ext cx="9719002" cy="3683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 b="1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6" name="Textplatzhalter 29">
            <a:extLst>
              <a:ext uri="{FF2B5EF4-FFF2-40B4-BE49-F238E27FC236}">
                <a16:creationId xmlns:a16="http://schemas.microsoft.com/office/drawing/2014/main" id="{9B7DBD4D-0466-8C9E-D7A5-08646A94CA5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4884" y="4788683"/>
            <a:ext cx="9719001" cy="1008062"/>
          </a:xfrm>
          <a:prstGeom prst="rect">
            <a:avLst/>
          </a:prstGeom>
        </p:spPr>
        <p:txBody>
          <a:bodyPr/>
          <a:lstStyle>
            <a:lvl2pPr>
              <a:defRPr/>
            </a:lvl2pPr>
            <a:lvl3pPr marL="310896" indent="0">
              <a:buNone/>
              <a:defRPr/>
            </a:lvl3pPr>
          </a:lstStyle>
          <a:p>
            <a:pPr lvl="1"/>
            <a:r>
              <a:rPr lang="de-DE" dirty="0"/>
              <a:t>Zweite Ebene</a:t>
            </a:r>
          </a:p>
          <a:p>
            <a:pPr lvl="1"/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4954BE9-E2D0-524E-E425-AC2211C2D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58446"/>
            <a:ext cx="8107680" cy="51731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Datumsplatzhalter 5">
            <a:extLst>
              <a:ext uri="{FF2B5EF4-FFF2-40B4-BE49-F238E27FC236}">
                <a16:creationId xmlns:a16="http://schemas.microsoft.com/office/drawing/2014/main" id="{C46098A6-555D-4262-0CC8-FDAA508FB3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5784" y="6515098"/>
            <a:ext cx="2743200" cy="267015"/>
          </a:xfrm>
          <a:prstGeom prst="rect">
            <a:avLst/>
          </a:prstGeom>
        </p:spPr>
        <p:txBody>
          <a:bodyPr/>
          <a:lstStyle/>
          <a:p>
            <a:fld id="{5B2D88E6-A1D0-4AD3-BA41-A82541C3267E}" type="datetime1">
              <a:rPr lang="de-DE" smtClean="0"/>
              <a:t>12.09.2026</a:t>
            </a:fld>
            <a:endParaRPr lang="de-DE"/>
          </a:p>
        </p:txBody>
      </p:sp>
      <p:sp>
        <p:nvSpPr>
          <p:cNvPr id="8" name="Fußzeilenplatzhalter 6">
            <a:extLst>
              <a:ext uri="{FF2B5EF4-FFF2-40B4-BE49-F238E27FC236}">
                <a16:creationId xmlns:a16="http://schemas.microsoft.com/office/drawing/2014/main" id="{52D5CE9D-DF11-6622-4575-EF76E0AE5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4300" y="6515100"/>
            <a:ext cx="8073348" cy="267015"/>
          </a:xfrm>
          <a:prstGeom prst="rect">
            <a:avLst/>
          </a:prstGeom>
        </p:spPr>
        <p:txBody>
          <a:bodyPr/>
          <a:lstStyle/>
          <a:p>
            <a:r>
              <a:rPr lang="de-DE"/>
              <a:t>[Name], [Vorname] | [Thema]</a:t>
            </a:r>
            <a:endParaRPr lang="de-DE" dirty="0"/>
          </a:p>
        </p:txBody>
      </p:sp>
      <p:sp>
        <p:nvSpPr>
          <p:cNvPr id="9" name="Foliennummernplatzhalter 7">
            <a:extLst>
              <a:ext uri="{FF2B5EF4-FFF2-40B4-BE49-F238E27FC236}">
                <a16:creationId xmlns:a16="http://schemas.microsoft.com/office/drawing/2014/main" id="{4CFF7114-95C6-3C55-2E17-BF2BC71D1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47120" y="6515099"/>
            <a:ext cx="830580" cy="267015"/>
          </a:xfrm>
          <a:prstGeom prst="rect">
            <a:avLst/>
          </a:prstGeom>
        </p:spPr>
        <p:txBody>
          <a:bodyPr/>
          <a:lstStyle/>
          <a:p>
            <a:fld id="{30CEEB5B-480E-41B0-B966-BE6BA67822F8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68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iederung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17BCCC-BA50-895D-7326-A1C75F1F0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58446"/>
            <a:ext cx="8107680" cy="51731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7BDB177-C965-1AE1-3E0A-C77034C1DA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5784" y="6515098"/>
            <a:ext cx="2743200" cy="267015"/>
          </a:xfrm>
          <a:prstGeom prst="rect">
            <a:avLst/>
          </a:prstGeom>
        </p:spPr>
        <p:txBody>
          <a:bodyPr/>
          <a:lstStyle/>
          <a:p>
            <a:fld id="{5B2D88E6-A1D0-4AD3-BA41-A82541C3267E}" type="datetime1">
              <a:rPr lang="de-DE" smtClean="0"/>
              <a:t>12.09.2026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5BB0536-8E22-33B0-CE98-8F463F1B8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4300" y="6515100"/>
            <a:ext cx="8073348" cy="267015"/>
          </a:xfrm>
          <a:prstGeom prst="rect">
            <a:avLst/>
          </a:prstGeom>
        </p:spPr>
        <p:txBody>
          <a:bodyPr/>
          <a:lstStyle/>
          <a:p>
            <a:r>
              <a:rPr lang="de-DE"/>
              <a:t>[Name], [Vorname] | [Thema]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0340307-21AD-0775-38EF-30459841E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47120" y="6515099"/>
            <a:ext cx="830580" cy="267015"/>
          </a:xfrm>
          <a:prstGeom prst="rect">
            <a:avLst/>
          </a:prstGeom>
        </p:spPr>
        <p:txBody>
          <a:bodyPr/>
          <a:lstStyle/>
          <a:p>
            <a:fld id="{30CEEB5B-480E-41B0-B966-BE6BA67822F8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C6D34F13-8D41-B937-54DE-7674A43E3D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5456" y="2019335"/>
            <a:ext cx="5772192" cy="5173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0121BEB2-2FD6-F0FD-0457-C2ABCEA49D6B}"/>
              </a:ext>
            </a:extLst>
          </p:cNvPr>
          <p:cNvCxnSpPr>
            <a:cxnSpLocks/>
          </p:cNvCxnSpPr>
          <p:nvPr userDrawn="1"/>
        </p:nvCxnSpPr>
        <p:spPr>
          <a:xfrm>
            <a:off x="2270678" y="1835082"/>
            <a:ext cx="0" cy="885824"/>
          </a:xfrm>
          <a:prstGeom prst="line">
            <a:avLst/>
          </a:prstGeom>
          <a:ln w="38100" cap="rnd">
            <a:solidFill>
              <a:srgbClr val="FF7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EFAB0C6-503A-C1B1-0317-D2145FAC0EB3}"/>
              </a:ext>
            </a:extLst>
          </p:cNvPr>
          <p:cNvSpPr txBox="1"/>
          <p:nvPr userDrawn="1"/>
        </p:nvSpPr>
        <p:spPr>
          <a:xfrm>
            <a:off x="1264837" y="1723996"/>
            <a:ext cx="115061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600" b="1" dirty="0">
                <a:solidFill>
                  <a:srgbClr val="FF7F00"/>
                </a:solidFill>
                <a:latin typeface="LMSans10-Regular"/>
              </a:rPr>
              <a:t>01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ACD874C5-6252-3A1D-2830-45B52B9F8B7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415456" y="3170341"/>
            <a:ext cx="5772192" cy="5173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E983AE0F-336F-D275-4E18-1F85D69F0E7D}"/>
              </a:ext>
            </a:extLst>
          </p:cNvPr>
          <p:cNvCxnSpPr>
            <a:cxnSpLocks/>
          </p:cNvCxnSpPr>
          <p:nvPr userDrawn="1"/>
        </p:nvCxnSpPr>
        <p:spPr>
          <a:xfrm>
            <a:off x="2270678" y="2986088"/>
            <a:ext cx="0" cy="885824"/>
          </a:xfrm>
          <a:prstGeom prst="line">
            <a:avLst/>
          </a:prstGeom>
          <a:ln w="38100" cap="rnd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C9B4C699-8EB5-F4FF-3048-DFCAE973A61D}"/>
              </a:ext>
            </a:extLst>
          </p:cNvPr>
          <p:cNvSpPr txBox="1"/>
          <p:nvPr userDrawn="1"/>
        </p:nvSpPr>
        <p:spPr>
          <a:xfrm>
            <a:off x="1264837" y="2875002"/>
            <a:ext cx="115061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600" b="1" dirty="0">
                <a:solidFill>
                  <a:schemeClr val="bg1">
                    <a:lumMod val="75000"/>
                  </a:schemeClr>
                </a:solidFill>
                <a:latin typeface="LMSans10-Regular"/>
              </a:rPr>
              <a:t>02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75BD7E31-E992-A161-81FB-80FCE9072BF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2415456" y="4321347"/>
            <a:ext cx="5772192" cy="5173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8B8D0EEC-1766-370F-4CB3-EC7B6BA31DF2}"/>
              </a:ext>
            </a:extLst>
          </p:cNvPr>
          <p:cNvCxnSpPr>
            <a:cxnSpLocks/>
          </p:cNvCxnSpPr>
          <p:nvPr userDrawn="1"/>
        </p:nvCxnSpPr>
        <p:spPr>
          <a:xfrm>
            <a:off x="2270678" y="4137094"/>
            <a:ext cx="0" cy="885824"/>
          </a:xfrm>
          <a:prstGeom prst="line">
            <a:avLst/>
          </a:prstGeom>
          <a:ln w="38100" cap="rnd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95969B95-5FB2-23A2-F3B5-D3321E183C49}"/>
              </a:ext>
            </a:extLst>
          </p:cNvPr>
          <p:cNvSpPr txBox="1"/>
          <p:nvPr userDrawn="1"/>
        </p:nvSpPr>
        <p:spPr>
          <a:xfrm>
            <a:off x="1264837" y="4026008"/>
            <a:ext cx="115061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600" b="1" dirty="0">
                <a:solidFill>
                  <a:schemeClr val="bg1">
                    <a:lumMod val="75000"/>
                  </a:schemeClr>
                </a:solidFill>
                <a:latin typeface="LMSans10-Regular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9471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Einbet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17BCCC-BA50-895D-7326-A1C75F1F0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58446"/>
            <a:ext cx="8107680" cy="51731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7BDB177-C965-1AE1-3E0A-C77034C1DA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5784" y="6515098"/>
            <a:ext cx="2743200" cy="267015"/>
          </a:xfrm>
          <a:prstGeom prst="rect">
            <a:avLst/>
          </a:prstGeom>
        </p:spPr>
        <p:txBody>
          <a:bodyPr/>
          <a:lstStyle/>
          <a:p>
            <a:fld id="{24CB6AD2-413F-4AB9-A47A-0E330C65B786}" type="datetime1">
              <a:rPr lang="de-DE" smtClean="0"/>
              <a:t>12.09.2026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5BB0536-8E22-33B0-CE98-8F463F1B8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4300" y="6515100"/>
            <a:ext cx="8073348" cy="267015"/>
          </a:xfrm>
          <a:prstGeom prst="rect">
            <a:avLst/>
          </a:prstGeom>
        </p:spPr>
        <p:txBody>
          <a:bodyPr/>
          <a:lstStyle/>
          <a:p>
            <a:r>
              <a:rPr lang="de-DE"/>
              <a:t>[Name], [Vorname] | [Thema]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0340307-21AD-0775-38EF-30459841E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47120" y="6515099"/>
            <a:ext cx="830580" cy="267015"/>
          </a:xfrm>
          <a:prstGeom prst="rect">
            <a:avLst/>
          </a:prstGeom>
        </p:spPr>
        <p:txBody>
          <a:bodyPr/>
          <a:lstStyle/>
          <a:p>
            <a:fld id="{30CEEB5B-480E-41B0-B966-BE6BA67822F8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470BD9E-D85D-8C77-B129-3B354B48BDFC}"/>
              </a:ext>
            </a:extLst>
          </p:cNvPr>
          <p:cNvSpPr/>
          <p:nvPr userDrawn="1"/>
        </p:nvSpPr>
        <p:spPr>
          <a:xfrm>
            <a:off x="929639" y="1413510"/>
            <a:ext cx="4937761" cy="40309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7A3ABD2-DF22-2096-5FFA-F0C15E9A3114}"/>
              </a:ext>
            </a:extLst>
          </p:cNvPr>
          <p:cNvSpPr txBox="1"/>
          <p:nvPr userDrawn="1"/>
        </p:nvSpPr>
        <p:spPr>
          <a:xfrm>
            <a:off x="419100" y="1413510"/>
            <a:ext cx="457200" cy="3970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13</a:t>
            </a:r>
          </a:p>
          <a:p>
            <a:pPr algn="r"/>
            <a:r>
              <a:rPr lang="de-DE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6ED62C8D-DAFA-6CD9-032B-2719811D9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3460" y="1474172"/>
            <a:ext cx="4762500" cy="39096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latin typeface="Consolas" panose="020B0609020204030204" pitchFamily="49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689A4D81-2710-C76B-AE50-F243B68492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324600" y="1413510"/>
            <a:ext cx="5448300" cy="46291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404907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1E57D-A066-DB1E-6CFA-555D2557D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58446"/>
            <a:ext cx="8107680" cy="517318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6788-64DA-8761-29A2-6993FF3FA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140615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4114386-59BC-35BF-7DC2-78E216E068E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5784" y="6515098"/>
            <a:ext cx="2743200" cy="267015"/>
          </a:xfrm>
          <a:prstGeom prst="rect">
            <a:avLst/>
          </a:prstGeom>
        </p:spPr>
        <p:txBody>
          <a:bodyPr/>
          <a:lstStyle/>
          <a:p>
            <a:fld id="{B31A16E5-DAB7-476F-ABBC-9B4B2EF12B62}" type="datetime1">
              <a:rPr lang="de-DE" smtClean="0"/>
              <a:t>12.09.2026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91EB95-9411-D182-24D2-3CF385709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4300" y="6515100"/>
            <a:ext cx="8073348" cy="267015"/>
          </a:xfrm>
          <a:prstGeom prst="rect">
            <a:avLst/>
          </a:prstGeom>
        </p:spPr>
        <p:txBody>
          <a:bodyPr/>
          <a:lstStyle/>
          <a:p>
            <a:r>
              <a:rPr lang="de-DE"/>
              <a:t>[Name], [Vorname] | [Thema]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27955CF-B30F-49A9-3883-6E3EC1DD2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47120" y="6515099"/>
            <a:ext cx="830580" cy="267015"/>
          </a:xfrm>
          <a:prstGeom prst="rect">
            <a:avLst/>
          </a:prstGeom>
        </p:spPr>
        <p:txBody>
          <a:bodyPr/>
          <a:lstStyle/>
          <a:p>
            <a:fld id="{30CEEB5B-480E-41B0-B966-BE6BA67822F8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63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EE770E-B3FE-784F-04CB-9CE5E8DE5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58446"/>
            <a:ext cx="8107680" cy="51731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25033B-4073-C08B-B939-39E8C97747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22BA1AD-D34F-5C46-6733-021A9F1DAB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AB082147-3174-BC7A-4A38-0F73ABC2B3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5784" y="6515098"/>
            <a:ext cx="2743200" cy="267015"/>
          </a:xfrm>
          <a:prstGeom prst="rect">
            <a:avLst/>
          </a:prstGeom>
        </p:spPr>
        <p:txBody>
          <a:bodyPr/>
          <a:lstStyle/>
          <a:p>
            <a:fld id="{F6846A29-A99E-407E-919D-CAFB8EF79851}" type="datetime1">
              <a:rPr lang="de-DE" smtClean="0"/>
              <a:t>12.09.2026</a:t>
            </a:fld>
            <a:endParaRPr lang="de-DE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380FCD1F-DF92-DD5E-A67E-7E484E4ED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4300" y="6515100"/>
            <a:ext cx="8073348" cy="267015"/>
          </a:xfrm>
          <a:prstGeom prst="rect">
            <a:avLst/>
          </a:prstGeom>
        </p:spPr>
        <p:txBody>
          <a:bodyPr/>
          <a:lstStyle/>
          <a:p>
            <a:r>
              <a:rPr lang="de-DE"/>
              <a:t>[Name], [Vorname] | [Thema]</a:t>
            </a:r>
            <a:endParaRPr lang="de-DE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05C9AD4E-3755-7EFD-EB0E-A7B78E6E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47120" y="6515099"/>
            <a:ext cx="830580" cy="267015"/>
          </a:xfrm>
          <a:prstGeom prst="rect">
            <a:avLst/>
          </a:prstGeom>
        </p:spPr>
        <p:txBody>
          <a:bodyPr/>
          <a:lstStyle/>
          <a:p>
            <a:fld id="{30CEEB5B-480E-41B0-B966-BE6BA67822F8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047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AE401ED-7B9A-31AD-9700-B6F578A221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948ED95-B2B4-5BF6-4A79-BED6ED9AC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6450FB-E994-9ECF-4D11-BD7B708DE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9A43200-3A87-45C7-BAC5-C7CEEF93E4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4BB61C0E-3EDD-DCAE-8064-4026820EF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58446"/>
            <a:ext cx="8107680" cy="51731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Datumsplatzhalter 13">
            <a:extLst>
              <a:ext uri="{FF2B5EF4-FFF2-40B4-BE49-F238E27FC236}">
                <a16:creationId xmlns:a16="http://schemas.microsoft.com/office/drawing/2014/main" id="{E914F760-BA8C-FCFC-9B81-A28E6675BA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5784" y="6515098"/>
            <a:ext cx="2743200" cy="267015"/>
          </a:xfrm>
          <a:prstGeom prst="rect">
            <a:avLst/>
          </a:prstGeom>
        </p:spPr>
        <p:txBody>
          <a:bodyPr/>
          <a:lstStyle/>
          <a:p>
            <a:fld id="{05C427E9-F640-4066-8A1A-E369756E934A}" type="datetime1">
              <a:rPr lang="de-DE" smtClean="0"/>
              <a:t>12.09.2026</a:t>
            </a:fld>
            <a:endParaRPr lang="de-DE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0F472136-3BFF-6DF8-6F21-11154B7E3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4300" y="6515100"/>
            <a:ext cx="8073348" cy="267015"/>
          </a:xfrm>
          <a:prstGeom prst="rect">
            <a:avLst/>
          </a:prstGeom>
        </p:spPr>
        <p:txBody>
          <a:bodyPr/>
          <a:lstStyle/>
          <a:p>
            <a:r>
              <a:rPr lang="de-DE"/>
              <a:t>[Name], [Vorname] | [Thema]</a:t>
            </a:r>
            <a:endParaRPr lang="de-DE" dirty="0"/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544F3753-AFB7-A468-5335-A1D81C149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47120" y="6515099"/>
            <a:ext cx="830580" cy="267015"/>
          </a:xfrm>
          <a:prstGeom prst="rect">
            <a:avLst/>
          </a:prstGeom>
        </p:spPr>
        <p:txBody>
          <a:bodyPr/>
          <a:lstStyle/>
          <a:p>
            <a:fld id="{30CEEB5B-480E-41B0-B966-BE6BA67822F8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3133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17BCCC-BA50-895D-7326-A1C75F1F0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58446"/>
            <a:ext cx="8107680" cy="51731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AB2E684-1884-9997-9EEE-11A6EAFBC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5784" y="6515098"/>
            <a:ext cx="2743200" cy="267015"/>
          </a:xfrm>
          <a:prstGeom prst="rect">
            <a:avLst/>
          </a:prstGeom>
        </p:spPr>
        <p:txBody>
          <a:bodyPr/>
          <a:lstStyle/>
          <a:p>
            <a:fld id="{7FCD0258-6618-4A2D-BDD5-6E568241F937}" type="datetime1">
              <a:rPr lang="de-DE" smtClean="0"/>
              <a:t>12.09.2026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3D278AC-6940-E8B2-75F6-742CFA50A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4300" y="6515100"/>
            <a:ext cx="8073348" cy="267015"/>
          </a:xfrm>
          <a:prstGeom prst="rect">
            <a:avLst/>
          </a:prstGeom>
        </p:spPr>
        <p:txBody>
          <a:bodyPr/>
          <a:lstStyle/>
          <a:p>
            <a:r>
              <a:rPr lang="de-DE"/>
              <a:t>[Name], [Vorname] | [Thema]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794A9E3-7037-5711-3B5A-34325FDEF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47120" y="6515099"/>
            <a:ext cx="830580" cy="267015"/>
          </a:xfrm>
          <a:prstGeom prst="rect">
            <a:avLst/>
          </a:prstGeom>
        </p:spPr>
        <p:txBody>
          <a:bodyPr/>
          <a:lstStyle/>
          <a:p>
            <a:fld id="{30CEEB5B-480E-41B0-B966-BE6BA67822F8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5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4302247-C990-A8E0-5621-2C04A984F7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5784" y="6515098"/>
            <a:ext cx="2743200" cy="267015"/>
          </a:xfrm>
          <a:prstGeom prst="rect">
            <a:avLst/>
          </a:prstGeom>
        </p:spPr>
        <p:txBody>
          <a:bodyPr/>
          <a:lstStyle/>
          <a:p>
            <a:fld id="{C45447BE-A639-4F18-9307-2F0370689CF1}" type="datetime1">
              <a:rPr lang="de-DE" smtClean="0"/>
              <a:t>12.09.2026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A842EB-AC25-E76A-6058-F190AD858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4300" y="6515100"/>
            <a:ext cx="8073348" cy="26701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[Name], [Vorname] | [Thema]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9D4A81-3024-444E-3B32-A0E0A35EC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47120" y="6515099"/>
            <a:ext cx="830580" cy="267015"/>
          </a:xfrm>
          <a:prstGeom prst="rect">
            <a:avLst/>
          </a:prstGeom>
        </p:spPr>
        <p:txBody>
          <a:bodyPr/>
          <a:lstStyle/>
          <a:p>
            <a:fld id="{30CEEB5B-480E-41B0-B966-BE6BA67822F8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83852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E6D59F0-C743-61B9-C470-43A5B7D51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58446"/>
            <a:ext cx="8107680" cy="5173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6BC9B6E-7534-B635-8163-A7A31F40B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520" y="140615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E78860-C0FB-A19C-5410-AD9AB82A4B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45784" y="6515098"/>
            <a:ext cx="2743200" cy="2670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5C846E3-81AB-4F78-BF24-91734D5F4AA0}" type="datetime1">
              <a:rPr lang="de-DE" smtClean="0"/>
              <a:pPr/>
              <a:t>12.09.2026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423C8D-B465-A50C-7A22-C82EE2D041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00" y="6515100"/>
            <a:ext cx="8073348" cy="2670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[Name], [Vorname] | [Thema]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AC42C2-965D-1E67-E50A-5D3CBF48B1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47120" y="6515099"/>
            <a:ext cx="830580" cy="2670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0CEEB5B-480E-41B0-B966-BE6BA67822F8}" type="slidenum">
              <a:rPr lang="de-DE" smtClean="0"/>
              <a:pPr/>
              <a:t>‹Nr.›</a:t>
            </a:fld>
            <a:endParaRPr lang="de-DE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27C6E63-FCFF-4B99-B815-1EC0894A604C}"/>
              </a:ext>
            </a:extLst>
          </p:cNvPr>
          <p:cNvCxnSpPr>
            <a:cxnSpLocks/>
          </p:cNvCxnSpPr>
          <p:nvPr userDrawn="1"/>
        </p:nvCxnSpPr>
        <p:spPr>
          <a:xfrm>
            <a:off x="419100" y="866776"/>
            <a:ext cx="1226820" cy="0"/>
          </a:xfrm>
          <a:prstGeom prst="line">
            <a:avLst/>
          </a:prstGeom>
          <a:ln w="38100" cap="rnd">
            <a:solidFill>
              <a:srgbClr val="FF7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6BE44347-7A27-F5A2-264D-DD10D0824EBF}"/>
              </a:ext>
            </a:extLst>
          </p:cNvPr>
          <p:cNvCxnSpPr>
            <a:cxnSpLocks/>
          </p:cNvCxnSpPr>
          <p:nvPr userDrawn="1"/>
        </p:nvCxnSpPr>
        <p:spPr>
          <a:xfrm>
            <a:off x="121920" y="6478898"/>
            <a:ext cx="11955780" cy="0"/>
          </a:xfrm>
          <a:prstGeom prst="line">
            <a:avLst/>
          </a:prstGeom>
          <a:ln w="28575" cap="rnd">
            <a:solidFill>
              <a:srgbClr val="FF7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7E91C8DA-E196-28C9-DF5B-F2B4F9188BDE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189934" y="285563"/>
            <a:ext cx="2469527" cy="485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538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49" r:id="rId2"/>
    <p:sldLayoutId id="2147483661" r:id="rId3"/>
    <p:sldLayoutId id="2147483664" r:id="rId4"/>
    <p:sldLayoutId id="2147483665" r:id="rId5"/>
    <p:sldLayoutId id="2147483666" r:id="rId6"/>
    <p:sldLayoutId id="2147483668" r:id="rId7"/>
    <p:sldLayoutId id="2147483669" r:id="rId8"/>
    <p:sldLayoutId id="2147483670" r:id="rId9"/>
    <p:sldLayoutId id="2147483671" r:id="rId10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FF7F00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F7F00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F7F00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F7F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F7F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Carlito"/>
              </a:rPr>
              <a:t>Den Halter finden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Carlito"/>
              </a:rPr>
              <a:t>Wie weit kommen wir klassisch? · DS 06 · 27.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Referat: 25 Minuten und Fragen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109960" cy="2743200"/>
          </a:xfrm>
          <a:prstGeom prst="roundRect">
            <a:avLst>
              <a:gd name="adj" fmla="val 4000"/>
            </a:avLst>
          </a:prstGeom>
          <a:solidFill>
            <a:srgbClr val="E97132"/>
          </a:solidFill>
          <a:ln w="254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0120" y="1783080"/>
            <a:ext cx="1028700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Carlito"/>
              </a:rPr>
              <a:t>Referat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FFFFFF"/>
                </a:solidFill>
                <a:latin typeface="Carlito"/>
              </a:rPr>
              <a:t>25 Minuten Vortrag, danach Fragen aus der Klasse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FFFFFF"/>
                </a:solidFill>
                <a:latin typeface="Carlito"/>
              </a:rPr>
              <a:t>Zuhören, Fragen notieren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KI-Systementwicklung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00200"/>
            <a:ext cx="146304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5400" b="1">
                <a:solidFill>
                  <a:srgbClr val="E97132"/>
                </a:solidFill>
                <a:latin typeface="Carlito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764792"/>
            <a:ext cx="32004" cy="676656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63240" y="1600200"/>
            <a:ext cx="822960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600" b="1">
                <a:solidFill>
                  <a:srgbClr val="44546A"/>
                </a:solidFill>
                <a:latin typeface="Carlito"/>
              </a:rPr>
              <a:t>Kantenbild und Gewichtssumme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15768"/>
            <a:ext cx="146304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5400" b="1">
                <a:solidFill>
                  <a:srgbClr val="D9D9D9"/>
                </a:solidFill>
                <a:latin typeface="Carlito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880360"/>
            <a:ext cx="32004" cy="67665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2715768"/>
            <a:ext cx="822960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600" b="0">
                <a:solidFill>
                  <a:srgbClr val="8C8C8C"/>
                </a:solidFill>
                <a:latin typeface="Carlito"/>
              </a:rPr>
              <a:t>Den Halter finden — bei jedem Licht?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31335"/>
            <a:ext cx="146304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5400" b="1">
                <a:solidFill>
                  <a:srgbClr val="D9D9D9"/>
                </a:solidFill>
                <a:latin typeface="Carlito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3995927"/>
            <a:ext cx="32004" cy="67665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3831335"/>
            <a:ext cx="822960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600" b="0">
                <a:solidFill>
                  <a:srgbClr val="8C8C8C"/>
                </a:solidFill>
                <a:latin typeface="Carlito"/>
              </a:rPr>
              <a:t>Wie weit kommen wir klassisch?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Der Kern entscheidet, welche Kanten hell werden</a:t>
            </a:r>
          </a:p>
        </p:txBody>
      </p:sp>
      <p:pic>
        <p:nvPicPr>
          <p:cNvPr id="3" name="Picture 2" descr="07_Grafik_13_Sobel_X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966155"/>
            <a:ext cx="11420856" cy="53097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Plus 60 oder mal 2: Was sieht das Kantenbild?</a:t>
            </a:r>
          </a:p>
        </p:txBody>
      </p:sp>
      <p:pic>
        <p:nvPicPr>
          <p:cNvPr id="3" name="Picture 2" descr="07_Grafik_15_Licht_F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32545"/>
            <a:ext cx="11420856" cy="49769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Die Gewichtssumme verrät die Frage an die Nachbarn</a:t>
            </a:r>
          </a:p>
        </p:txBody>
      </p:sp>
      <p:pic>
        <p:nvPicPr>
          <p:cNvPr id="3" name="Picture 2" descr="07_Grafik_18_Gewichtssum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60681"/>
            <a:ext cx="11420856" cy="47206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Plus fällt heraus, mal verdoppelt die Kanten</a:t>
            </a:r>
          </a:p>
        </p:txBody>
      </p:sp>
      <p:pic>
        <p:nvPicPr>
          <p:cNvPr id="3" name="Picture 2" descr="07_Grafik_16_Licht_Antw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98897"/>
            <a:ext cx="11420856" cy="50442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Ein Kantenbild ist noch kein Bauteil</a:t>
            </a:r>
          </a:p>
        </p:txBody>
      </p:sp>
      <p:pic>
        <p:nvPicPr>
          <p:cNvPr id="3" name="Picture 2" descr="07_Grafik_25_Kein_Bauteil_He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20460"/>
            <a:ext cx="11420856" cy="52011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KI-Systementwicklung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00200"/>
            <a:ext cx="146304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5400" b="1">
                <a:solidFill>
                  <a:srgbClr val="D9D9D9"/>
                </a:solidFill>
                <a:latin typeface="Carlito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764792"/>
            <a:ext cx="32004" cy="67665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63240" y="1600200"/>
            <a:ext cx="822960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600" b="0">
                <a:solidFill>
                  <a:srgbClr val="8C8C8C"/>
                </a:solidFill>
                <a:latin typeface="Carlito"/>
              </a:rPr>
              <a:t>Kantenbild und Gewichtssumme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15768"/>
            <a:ext cx="146304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5400" b="1">
                <a:solidFill>
                  <a:srgbClr val="E97132"/>
                </a:solidFill>
                <a:latin typeface="Carlito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880360"/>
            <a:ext cx="32004" cy="676656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2715768"/>
            <a:ext cx="822960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600" b="1">
                <a:solidFill>
                  <a:srgbClr val="44546A"/>
                </a:solidFill>
                <a:latin typeface="Carlito"/>
              </a:rPr>
              <a:t>Den Halter finden — bei jedem Licht?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31335"/>
            <a:ext cx="146304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5400" b="1">
                <a:solidFill>
                  <a:srgbClr val="D9D9D9"/>
                </a:solidFill>
                <a:latin typeface="Carlito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3995927"/>
            <a:ext cx="32004" cy="67665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3831335"/>
            <a:ext cx="822960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600" b="0">
                <a:solidFill>
                  <a:srgbClr val="8C8C8C"/>
                </a:solidFill>
                <a:latin typeface="Carlito"/>
              </a:rPr>
              <a:t>Wie weit kommen wir klassisch?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ys06_sortierer_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566160"/>
            <a:ext cx="12192000" cy="3291840"/>
          </a:xfrm>
          <a:prstGeom prst="rect">
            <a:avLst/>
          </a:prstGeom>
          <a:solidFill>
            <a:srgbClr val="1F2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72896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Carlito"/>
              </a:rPr>
              <a:t>Die Anlage findet jedes Teil.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D9E2EC"/>
                </a:solidFill>
                <a:latin typeface="Carlito"/>
              </a:rPr>
              <a:t>Wo liegt es, wie groß ist es — und ist es das richtige?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ys06_messschieber_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566160"/>
            <a:ext cx="12192000" cy="3291840"/>
          </a:xfrm>
          <a:prstGeom prst="rect">
            <a:avLst/>
          </a:prstGeom>
          <a:solidFill>
            <a:srgbClr val="1F2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72896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Carlito"/>
              </a:rPr>
              <a:t>Die Frage der Stunde</a:t>
            </a:r>
          </a:p>
          <a:p>
            <a:pPr>
              <a:spcAft>
                <a:spcPts val="1000"/>
              </a:spcAft>
            </a:pPr>
            <a:r>
              <a:rPr sz="3600" b="1">
                <a:solidFill>
                  <a:srgbClr val="FFFFFF"/>
                </a:solidFill>
                <a:latin typeface="Carlito"/>
              </a:rPr>
              <a:t>Findet euer Programm den Halter —</a:t>
            </a:r>
          </a:p>
          <a:p>
            <a:pPr>
              <a:spcAft>
                <a:spcPts val="1000"/>
              </a:spcAft>
            </a:pPr>
            <a:r>
              <a:rPr sz="3600" b="1">
                <a:solidFill>
                  <a:srgbClr val="FFB380"/>
                </a:solidFill>
                <a:latin typeface="Carlito"/>
              </a:rPr>
              <a:t>bei jedem Licht?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Fünf Schritte vom Foto zum Umriss</a:t>
            </a:r>
          </a:p>
        </p:txBody>
      </p:sp>
      <p:pic>
        <p:nvPicPr>
          <p:cNvPr id="3" name="Picture 2" descr="07_Grafik_30_Fuenf_Schri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89923"/>
            <a:ext cx="11420856" cy="40622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Neu: findContours liefert jeden Umriss einzeln</a:t>
            </a:r>
          </a:p>
        </p:txBody>
      </p:sp>
      <p:pic>
        <p:nvPicPr>
          <p:cNvPr id="3" name="Picture 2" descr="07_Grafik_32_Code_Umr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333344"/>
            <a:ext cx="11420856" cy="457535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Jetzt ihr: Findet den Halter — bei jedem Licht?</a:t>
            </a:r>
          </a:p>
        </p:txBody>
      </p:sp>
      <p:pic>
        <p:nvPicPr>
          <p:cNvPr id="3" name="Picture 2" descr="07_Grafik_31_Zi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819" y="914400"/>
            <a:ext cx="7077312" cy="26517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4000"/>
            </a:avLst>
          </a:prstGeom>
          <a:solidFill>
            <a:srgbClr val="E97132"/>
          </a:solidFill>
          <a:ln w="254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4023359"/>
            <a:ext cx="1028700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Carlito"/>
              </a:rPr>
              <a:t>Arbeitsphase · 34 Minuten · ein neues Skript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FFFFFF"/>
                </a:solidFill>
                <a:latin typeface="Carlito"/>
              </a:rPr>
              <a:t>1  Die Maske: misch laden, Ausschnitt, glätten 9 × 9, Otsu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FFFFFF"/>
                </a:solidFill>
                <a:latin typeface="Carlito"/>
              </a:rPr>
              <a:t>2  Der Umriss: den größten finden und orange ins Farbfoto zeichnen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FFFFFF"/>
                </a:solidFill>
                <a:latin typeface="Carlito"/>
              </a:rPr>
              <a:t>3  Dasselbe Programm über alle vier Aufnahmen: Liegt der Umriss auf dem Halter?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KI-Systementwicklung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00200"/>
            <a:ext cx="146304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5400" b="1">
                <a:solidFill>
                  <a:srgbClr val="D9D9D9"/>
                </a:solidFill>
                <a:latin typeface="Carlito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764792"/>
            <a:ext cx="32004" cy="67665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63240" y="1600200"/>
            <a:ext cx="822960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600" b="0">
                <a:solidFill>
                  <a:srgbClr val="8C8C8C"/>
                </a:solidFill>
                <a:latin typeface="Carlito"/>
              </a:rPr>
              <a:t>Kantenbild und Gewichtssumme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15768"/>
            <a:ext cx="146304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5400" b="1">
                <a:solidFill>
                  <a:srgbClr val="D9D9D9"/>
                </a:solidFill>
                <a:latin typeface="Carlito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880360"/>
            <a:ext cx="32004" cy="67665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2715768"/>
            <a:ext cx="822960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600" b="0">
                <a:solidFill>
                  <a:srgbClr val="8C8C8C"/>
                </a:solidFill>
                <a:latin typeface="Carlito"/>
              </a:rPr>
              <a:t>Den Halter finden — bei jedem Licht?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31335"/>
            <a:ext cx="146304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5400" b="1">
                <a:solidFill>
                  <a:srgbClr val="E97132"/>
                </a:solidFill>
                <a:latin typeface="Carlito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3995927"/>
            <a:ext cx="32004" cy="676656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3831335"/>
            <a:ext cx="8229600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600" b="1">
                <a:solidFill>
                  <a:srgbClr val="44546A"/>
                </a:solidFill>
                <a:latin typeface="Carlito"/>
              </a:rPr>
              <a:t>Wie weit kommen wir klassisch?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Wann ist der Halter gefunden? Eine Zahl entscheidet</a:t>
            </a:r>
          </a:p>
        </p:txBody>
      </p:sp>
      <p:pic>
        <p:nvPicPr>
          <p:cNvPr id="3" name="Picture 2" descr="07_Grafik_34_Reg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371678"/>
            <a:ext cx="11420856" cy="449869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Ein Programm, vier Lichter: 2 von 4</a:t>
            </a:r>
          </a:p>
        </p:txBody>
      </p:sp>
      <p:pic>
        <p:nvPicPr>
          <p:cNvPr id="3" name="Picture 2" descr="07_Grafik_35_Ergebn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37968"/>
            <a:ext cx="11420856" cy="476611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Die Maske verrät, woran es scheitert</a:t>
            </a:r>
          </a:p>
        </p:txBody>
      </p:sp>
      <p:pic>
        <p:nvPicPr>
          <p:cNvPr id="3" name="Picture 2" descr="07_Grafik_36_Wa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23" y="932688"/>
            <a:ext cx="10894305" cy="53766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So macht es die Industrie: Sie legt das Licht fest</a:t>
            </a:r>
          </a:p>
        </p:txBody>
      </p:sp>
      <p:pic>
        <p:nvPicPr>
          <p:cNvPr id="3" name="Picture 2" descr="07_Grafik_38_Licht_Festle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352337"/>
            <a:ext cx="11420856" cy="453737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Der Halter als Kern findet den Ort bei jedem Licht</a:t>
            </a:r>
          </a:p>
        </p:txBody>
      </p:sp>
      <p:pic>
        <p:nvPicPr>
          <p:cNvPr id="3" name="Picture 2" descr="07_Grafik_39_Vor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64382"/>
            <a:ext cx="11420856" cy="37428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E97132"/>
                </a:solidFill>
                <a:latin typeface="Carlito"/>
              </a:rPr>
              <a:t>Ein Netz macht genau das — mit vielen kleinen Kernen, die es aus Beispielen lernt.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Jedes Merkmal heute hat ein Mensch festgelegt</a:t>
            </a:r>
          </a:p>
        </p:txBody>
      </p:sp>
      <p:pic>
        <p:nvPicPr>
          <p:cNvPr id="3" name="Picture 2" descr="07_Grafik_37_Erdac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331128"/>
            <a:ext cx="11420856" cy="457979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Merkmale zum Sortieren: Form hält, Licht nicht</a:t>
            </a:r>
          </a:p>
        </p:txBody>
      </p:sp>
      <p:pic>
        <p:nvPicPr>
          <p:cNvPr id="3" name="Picture 2" descr="07_Grafik_40_Merkm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46" y="932688"/>
            <a:ext cx="11333458" cy="537667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ys06_gpu_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566160"/>
            <a:ext cx="12192000" cy="3291840"/>
          </a:xfrm>
          <a:prstGeom prst="rect">
            <a:avLst/>
          </a:prstGeom>
          <a:solidFill>
            <a:srgbClr val="1F2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72896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00"/>
              </a:spcAft>
            </a:pPr>
            <a:r>
              <a:rPr sz="3600" b="1">
                <a:solidFill>
                  <a:srgbClr val="FFFFFF"/>
                </a:solidFill>
                <a:latin typeface="Carlito"/>
              </a:rPr>
              <a:t>Bisher haben wir die Merkmale erfunden.</a:t>
            </a:r>
          </a:p>
          <a:p>
            <a:pPr>
              <a:spcAft>
                <a:spcPts val="1000"/>
              </a:spcAft>
            </a:pPr>
            <a:r>
              <a:rPr sz="3600" b="1">
                <a:solidFill>
                  <a:srgbClr val="FFB380"/>
                </a:solidFill>
                <a:latin typeface="Carlito"/>
              </a:rPr>
              <a:t>Ab Dezember sucht das Netz sie sich selbst.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Bis zum 10. November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80160"/>
            <a:ext cx="11109960" cy="2560320"/>
          </a:xfrm>
          <a:prstGeom prst="roundRect">
            <a:avLst>
              <a:gd name="adj" fmla="val 4000"/>
            </a:avLst>
          </a:prstGeom>
          <a:solidFill>
            <a:srgbClr val="E97132"/>
          </a:solidFill>
          <a:ln w="254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10287000" cy="19202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Carlito"/>
              </a:rPr>
              <a:t>Kurzarbeit und Analysebericht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FFFFFF"/>
                </a:solidFill>
                <a:latin typeface="Carlito"/>
              </a:rPr>
              <a:t>10.11.: Kurzarbeit, 20 Minuten — im Repository: Zusammenfassung und Übungsblatt mit Lösungen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FFFFFF"/>
                </a:solidFill>
                <a:latin typeface="Carlito"/>
              </a:rPr>
              <a:t>10.11.: Analysebericht abgeben — eure Tabelle und das 2 × 2-Fenster aus der Arbeitsphase gehören hinein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55778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44546A"/>
                </a:solidFill>
                <a:latin typeface="Carlito"/>
              </a:rPr>
              <a:t>Glossar heute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44546A"/>
                </a:solidFill>
                <a:latin typeface="Carlito"/>
              </a:rPr>
              <a:t>contour — Kontur, Umriss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44546A"/>
                </a:solidFill>
                <a:latin typeface="Carlito"/>
              </a:rPr>
              <a:t>smoothing, mean filter — Glätten, Mittelwertfilter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44546A"/>
                </a:solidFill>
                <a:latin typeface="Carlito"/>
              </a:rPr>
              <a:t>Otsu's method — Otsu-Verfahren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4114800"/>
            <a:ext cx="5303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44546A"/>
                </a:solidFill>
                <a:latin typeface="Carlito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44546A"/>
                </a:solidFill>
                <a:latin typeface="Carlito"/>
              </a:rPr>
              <a:t>robustness — Robustheit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44546A"/>
                </a:solidFill>
                <a:latin typeface="Carlito"/>
              </a:rPr>
              <a:t>hand-crafted features — erdachte Merkmale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44546A"/>
                </a:solidFill>
                <a:latin typeface="Carlito"/>
              </a:rPr>
              <a:t>learned features — gelernte Merkmale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lter_seitlich.jpg"/>
          <p:cNvPicPr>
            <a:picLocks noChangeAspect="1"/>
          </p:cNvPicPr>
          <p:nvPr/>
        </p:nvPicPr>
        <p:blipFill>
          <a:blip r:embed="rId2"/>
          <a:srcRect t="1250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566160"/>
            <a:ext cx="12192000" cy="3291840"/>
          </a:xfrm>
          <a:prstGeom prst="rect">
            <a:avLst/>
          </a:prstGeom>
          <a:solidFill>
            <a:srgbClr val="1F2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72896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Carlito"/>
              </a:rPr>
              <a:t>Vertiefung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D9E2EC"/>
                </a:solidFill>
                <a:latin typeface="Carlito"/>
              </a:rPr>
              <a:t>Glätten im Detail · andere erdachte Merkmale: Ecken und SIFT-Punkte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Glätten nimmt dem Umriss die Fransen</a:t>
            </a:r>
          </a:p>
        </p:txBody>
      </p:sp>
      <p:pic>
        <p:nvPicPr>
          <p:cNvPr id="3" name="Picture 2" descr="07_Grafik_33_Glaetten_Hil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70773"/>
            <a:ext cx="11420856" cy="4700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Ecken: ein anderes Merkmal, dieselbe Grenze</a:t>
            </a:r>
          </a:p>
        </p:txBody>
      </p:sp>
      <p:pic>
        <p:nvPicPr>
          <p:cNvPr id="3" name="Picture 2" descr="07_Grafik_18_Har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334898"/>
            <a:ext cx="11420856" cy="457225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rlito"/>
              </a:rPr>
              <a:t>SIFT findet Punkte wieder — bei anderem Licht kaum</a:t>
            </a:r>
          </a:p>
        </p:txBody>
      </p:sp>
      <p:pic>
        <p:nvPicPr>
          <p:cNvPr id="3" name="Picture 2" descr="07_Grafik_19_S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06225"/>
            <a:ext cx="11420856" cy="42295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orlage_01.potx" id="{2615161D-B22D-40AD-B7B4-2C38E79497BA}" vid="{21684944-A2E8-4194-84DE-5B35D735E350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22</Words>
  <Application>Microsoft Office PowerPoint</Application>
  <PresentationFormat>Breitbild</PresentationFormat>
  <Paragraphs>7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Aptos</vt:lpstr>
      <vt:lpstr>Arial</vt:lpstr>
      <vt:lpstr>Calibri</vt:lpstr>
      <vt:lpstr>Consolas</vt:lpstr>
      <vt:lpstr>LMSans10-Regular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Mödl Tobias</dc:creator>
  <cp:lastModifiedBy>Sebastian Schaffenroth</cp:lastModifiedBy>
  <cp:revision>12</cp:revision>
  <dcterms:created xsi:type="dcterms:W3CDTF">2025-03-19T14:45:56Z</dcterms:created>
  <dcterms:modified xsi:type="dcterms:W3CDTF">2026-09-12T17:47:32Z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