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90C"/>
    <a:srgbClr val="CD1313"/>
    <a:srgbClr val="194383"/>
    <a:srgbClr val="FF9327"/>
    <a:srgbClr val="D9D9D9"/>
    <a:srgbClr val="FF7F00"/>
    <a:srgbClr val="0F9A0C"/>
    <a:srgbClr val="E7E6E4"/>
    <a:srgbClr val="BABEC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14" y="114"/>
      </p:cViewPr>
      <p:guideLst>
        <p:guide orient="horz" pos="2160"/>
        <p:guide pos="42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12.09.2026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12.09.2026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DBD8102E-E41E-1226-5FCC-07A17AF77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026FA2-D656-5742-A409-0FD791FF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" y="1801653"/>
            <a:ext cx="8735060" cy="22831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2D62C-011C-421D-A137-5CDD11A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" y="4188778"/>
            <a:ext cx="873506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309768-3AB1-C2F3-0AF1-DE2EAC4825BB}"/>
              </a:ext>
            </a:extLst>
          </p:cNvPr>
          <p:cNvCxnSpPr>
            <a:cxnSpLocks/>
          </p:cNvCxnSpPr>
          <p:nvPr userDrawn="1"/>
        </p:nvCxnSpPr>
        <p:spPr>
          <a:xfrm>
            <a:off x="358140" y="4139407"/>
            <a:ext cx="533400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9A9DA63-AB07-ECFA-6D56-3DE755E1BA41}"/>
              </a:ext>
            </a:extLst>
          </p:cNvPr>
          <p:cNvSpPr/>
          <p:nvPr userDrawn="1"/>
        </p:nvSpPr>
        <p:spPr>
          <a:xfrm>
            <a:off x="8111537" y="6044596"/>
            <a:ext cx="3022900" cy="61621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äne 4">
            <a:extLst>
              <a:ext uri="{FF2B5EF4-FFF2-40B4-BE49-F238E27FC236}">
                <a16:creationId xmlns:a16="http://schemas.microsoft.com/office/drawing/2014/main" id="{C7AC6466-164E-CD8B-9243-EAB9F6107127}"/>
              </a:ext>
            </a:extLst>
          </p:cNvPr>
          <p:cNvSpPr/>
          <p:nvPr userDrawn="1"/>
        </p:nvSpPr>
        <p:spPr>
          <a:xfrm>
            <a:off x="9397013" y="5018928"/>
            <a:ext cx="1016143" cy="1016143"/>
          </a:xfrm>
          <a:prstGeom prst="teardrop">
            <a:avLst/>
          </a:prstGeom>
          <a:solidFill>
            <a:srgbClr val="CD1313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67E45C4F-6AC9-81FE-9FB6-4F5396A27C54}"/>
              </a:ext>
            </a:extLst>
          </p:cNvPr>
          <p:cNvSpPr/>
          <p:nvPr userDrawn="1"/>
        </p:nvSpPr>
        <p:spPr>
          <a:xfrm rot="5400000">
            <a:off x="9852780" y="4762939"/>
            <a:ext cx="1842033" cy="721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990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räne 6">
            <a:extLst>
              <a:ext uri="{FF2B5EF4-FFF2-40B4-BE49-F238E27FC236}">
                <a16:creationId xmlns:a16="http://schemas.microsoft.com/office/drawing/2014/main" id="{59C12670-0B71-961E-622A-BDBA91DA679A}"/>
              </a:ext>
            </a:extLst>
          </p:cNvPr>
          <p:cNvSpPr/>
          <p:nvPr userDrawn="1"/>
        </p:nvSpPr>
        <p:spPr>
          <a:xfrm>
            <a:off x="11134437" y="3973644"/>
            <a:ext cx="1842034" cy="1842034"/>
          </a:xfrm>
          <a:prstGeom prst="teardrop">
            <a:avLst/>
          </a:prstGeom>
          <a:solidFill>
            <a:srgbClr val="194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äne 8">
            <a:extLst>
              <a:ext uri="{FF2B5EF4-FFF2-40B4-BE49-F238E27FC236}">
                <a16:creationId xmlns:a16="http://schemas.microsoft.com/office/drawing/2014/main" id="{834475F0-DE9C-7713-DF73-43F9397771FB}"/>
              </a:ext>
            </a:extLst>
          </p:cNvPr>
          <p:cNvSpPr/>
          <p:nvPr userDrawn="1"/>
        </p:nvSpPr>
        <p:spPr>
          <a:xfrm rot="16200000">
            <a:off x="11134437" y="5815678"/>
            <a:ext cx="1133763" cy="1133763"/>
          </a:xfrm>
          <a:prstGeom prst="teardrop">
            <a:avLst/>
          </a:prstGeom>
          <a:solidFill>
            <a:srgbClr val="0F990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F954D0-37F6-2F2C-66E6-31263A2696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7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58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4CD12FE6-BACC-8D6C-9611-18479E604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256F9DF-099C-5027-D9A5-DC9B379D3C4A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8DFD7-58B3-4BAC-6325-1555006EFB38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rgbClr val="C7C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946" y="3731322"/>
            <a:ext cx="9036513" cy="83058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l">
              <a:defRPr sz="3600" b="1" spc="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5586" y="4705360"/>
            <a:ext cx="9036513" cy="1002020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1FBC56-60D7-4730-1A65-135F655549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831A71-98A1-CB88-1AC0-AE0D21D65980}"/>
              </a:ext>
            </a:extLst>
          </p:cNvPr>
          <p:cNvCxnSpPr>
            <a:cxnSpLocks/>
          </p:cNvCxnSpPr>
          <p:nvPr userDrawn="1"/>
        </p:nvCxnSpPr>
        <p:spPr>
          <a:xfrm>
            <a:off x="985419" y="1881487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C410E52D-A003-3CAC-08F2-8710D0B73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419" y="1513189"/>
            <a:ext cx="972007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19C591D-864B-EE86-1040-91432FB76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884" y="1881321"/>
            <a:ext cx="972007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C3BC8E3-61C8-BD39-05E4-F8FA82E94583}"/>
              </a:ext>
            </a:extLst>
          </p:cNvPr>
          <p:cNvCxnSpPr>
            <a:cxnSpLocks/>
          </p:cNvCxnSpPr>
          <p:nvPr userDrawn="1"/>
        </p:nvCxnSpPr>
        <p:spPr>
          <a:xfrm>
            <a:off x="985419" y="3335168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4A12A037-A41B-61EA-7502-2EF45D6D4F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419" y="2966870"/>
            <a:ext cx="9719536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5BAD0ADE-435A-92A5-1EF2-3250A881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885" y="3335002"/>
            <a:ext cx="9719536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065094F-5D4E-74D9-1D89-4DA6AABCAB49}"/>
              </a:ext>
            </a:extLst>
          </p:cNvPr>
          <p:cNvCxnSpPr>
            <a:cxnSpLocks/>
          </p:cNvCxnSpPr>
          <p:nvPr userDrawn="1"/>
        </p:nvCxnSpPr>
        <p:spPr>
          <a:xfrm>
            <a:off x="985419" y="4788849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9CDD1638-0FD1-67CB-EA36-44A54652DC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419" y="4420551"/>
            <a:ext cx="971900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9B7DBD4D-0466-8C9E-D7A5-08646A94C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884" y="4788683"/>
            <a:ext cx="971900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954BE9-E2D0-524E-E425-AC2211C2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C46098A6-555D-4262-0CC8-FDAA508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12.09.2026</a:t>
            </a:fld>
            <a:endParaRPr lang="de-DE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2D5CE9D-DF11-6622-4575-EF76E0AE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4CFF7114-95C6-3C55-2E17-BF2BC71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12.09.2026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6D34F13-8D41-B937-54DE-7674A43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121BEB2-2FD6-F0FD-0457-C2ABCEA49D6B}"/>
              </a:ext>
            </a:extLst>
          </p:cNvPr>
          <p:cNvCxnSpPr>
            <a:cxnSpLocks/>
          </p:cNvCxnSpPr>
          <p:nvPr userDrawn="1"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FAB0C6-503A-C1B1-0317-D2145FAC0EB3}"/>
              </a:ext>
            </a:extLst>
          </p:cNvPr>
          <p:cNvSpPr txBox="1"/>
          <p:nvPr userDrawn="1"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ACD874C5-6252-3A1D-2830-45B52B9F8B7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83AE0F-336F-D275-4E18-1F85D69F0E7D}"/>
              </a:ext>
            </a:extLst>
          </p:cNvPr>
          <p:cNvCxnSpPr>
            <a:cxnSpLocks/>
          </p:cNvCxnSpPr>
          <p:nvPr userDrawn="1"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C9B4C699-8EB5-F4FF-3048-DFCAE973A61D}"/>
              </a:ext>
            </a:extLst>
          </p:cNvPr>
          <p:cNvSpPr txBox="1"/>
          <p:nvPr userDrawn="1"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5BD7E31-E992-A161-81FB-80FCE9072B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B8D0EEC-1766-370F-4CB3-EC7B6BA31DF2}"/>
              </a:ext>
            </a:extLst>
          </p:cNvPr>
          <p:cNvCxnSpPr>
            <a:cxnSpLocks/>
          </p:cNvCxnSpPr>
          <p:nvPr userDrawn="1"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5969B95-5FB2-23A2-F3B5-D3321E183C49}"/>
              </a:ext>
            </a:extLst>
          </p:cNvPr>
          <p:cNvSpPr txBox="1"/>
          <p:nvPr userDrawn="1"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4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Einbet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24CB6AD2-413F-4AB9-A47A-0E330C65B786}" type="datetime1">
              <a:rPr lang="de-DE" smtClean="0"/>
              <a:t>12.09.2026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70BD9E-D85D-8C77-B129-3B354B48BDFC}"/>
              </a:ext>
            </a:extLst>
          </p:cNvPr>
          <p:cNvSpPr/>
          <p:nvPr userDrawn="1"/>
        </p:nvSpPr>
        <p:spPr>
          <a:xfrm>
            <a:off x="929639" y="1413510"/>
            <a:ext cx="4937761" cy="4030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A3ABD2-DF22-2096-5FFA-F0C15E9A3114}"/>
              </a:ext>
            </a:extLst>
          </p:cNvPr>
          <p:cNvSpPr txBox="1"/>
          <p:nvPr userDrawn="1"/>
        </p:nvSpPr>
        <p:spPr>
          <a:xfrm>
            <a:off x="419100" y="1413510"/>
            <a:ext cx="4572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D62C8D-DAFA-6CD9-032B-2719811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60" y="1474172"/>
            <a:ext cx="4762500" cy="3909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Consolas" panose="020B0609020204030204" pitchFamily="49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9A4D81-2710-C76B-AE50-F243B68492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3510"/>
            <a:ext cx="5448300" cy="4629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049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1E57D-A066-DB1E-6CFA-555D255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6788-64DA-8761-29A2-6993FF3F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114386-59BC-35BF-7DC2-78E216E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B31A16E5-DAB7-476F-ABBC-9B4B2EF12B62}" type="datetime1">
              <a:rPr lang="de-DE" smtClean="0"/>
              <a:t>12.09.2026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1EB95-9411-D182-24D2-3CF38570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7955CF-B30F-49A9-3883-6E3EC1D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3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770E-B3FE-784F-04CB-9CE5E8DE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5033B-4073-C08B-B939-39E8C977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2BA1AD-D34F-5C46-6733-021A9F1D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B082147-3174-BC7A-4A38-0F73ABC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F6846A29-A99E-407E-919D-CAFB8EF79851}" type="datetime1">
              <a:rPr lang="de-DE" smtClean="0"/>
              <a:t>12.09.2026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80FCD1F-DF92-DD5E-A67E-7E484E4E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5C9AD4E-3755-7EFD-EB0E-A7B78E6E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04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401ED-7B9A-31AD-9700-B6F578A2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8ED95-B2B4-5BF6-4A79-BED6ED9A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6450FB-E994-9ECF-4D11-BD7B708D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A43200-3A87-45C7-BAC5-C7CEEF93E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BB61C0E-3EDD-DCAE-8064-4026820E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E914F760-BA8C-FCFC-9B81-A28E667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05C427E9-F640-4066-8A1A-E369756E934A}" type="datetime1">
              <a:rPr lang="de-DE" smtClean="0"/>
              <a:t>12.09.2026</a:t>
            </a:fld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F472136-3BFF-6DF8-6F21-11154B7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44F3753-AFB7-A468-5335-A1D81C14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B2E684-1884-9997-9EEE-11A6EAF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7FCD0258-6618-4A2D-BDD5-6E568241F937}" type="datetime1">
              <a:rPr lang="de-DE" smtClean="0"/>
              <a:t>12.09.2026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3D278AC-6940-E8B2-75F6-742CFA50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94A9E3-7037-5711-3B5A-34325FDE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302247-C990-A8E0-5621-2C04A98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C45447BE-A639-4F18-9307-2F0370689CF1}" type="datetime1">
              <a:rPr lang="de-DE" smtClean="0"/>
              <a:t>12.09.2026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A842EB-AC25-E76A-6058-F190AD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[Name], [Vorname] | [Thema]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D4A81-3024-444E-3B32-A0E0A35E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852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6D59F0-C743-61B9-C470-43A5B7D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C9B6E-7534-B635-8163-A7A31F40B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78860-C0FB-A19C-5410-AD9AB82A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C846E3-81AB-4F78-BF24-91734D5F4AA0}" type="datetime1">
              <a:rPr lang="de-DE" smtClean="0"/>
              <a:pPr/>
              <a:t>12.09.2026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23C8D-B465-A50C-7A22-C82EE2D04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C42C2-965D-1E67-E50A-5D3CBF48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7C6E63-FCFF-4B99-B815-1EC0894A604C}"/>
              </a:ext>
            </a:extLst>
          </p:cNvPr>
          <p:cNvCxnSpPr>
            <a:cxnSpLocks/>
          </p:cNvCxnSpPr>
          <p:nvPr userDrawn="1"/>
        </p:nvCxnSpPr>
        <p:spPr>
          <a:xfrm>
            <a:off x="419100" y="866776"/>
            <a:ext cx="1226820" cy="0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E44347-7A27-F5A2-264D-DD10D0824EBF}"/>
              </a:ext>
            </a:extLst>
          </p:cNvPr>
          <p:cNvCxnSpPr>
            <a:cxnSpLocks/>
          </p:cNvCxnSpPr>
          <p:nvPr userDrawn="1"/>
        </p:nvCxnSpPr>
        <p:spPr>
          <a:xfrm>
            <a:off x="121920" y="6478898"/>
            <a:ext cx="1195578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7E91C8DA-E196-28C9-DF5B-F2B4F9188BD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89934" y="285563"/>
            <a:ext cx="2469527" cy="4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3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7F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rlito"/>
              </a:rPr>
              <a:t>Den Halter finden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rlito"/>
              </a:rPr>
              <a:t>Wie weit kommen wir klassisch? · DS 06 · 27.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Referat: 25 Minuten und Fragen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27432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8700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Referat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25 Minuten Vortrag, danach Fragen aus der Klasse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Zuhören, Fragen notieren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Kantenbild und Gewichtssumme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Den Halter finden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Härtetest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Wie weit kommen wir klassisch?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Kern entscheidet, welche Kanten hell werden</a:t>
            </a:r>
          </a:p>
        </p:txBody>
      </p:sp>
      <p:pic>
        <p:nvPicPr>
          <p:cNvPr id="3" name="Picture 2" descr="07_Grafik_13_Sobel_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66155"/>
            <a:ext cx="11420856" cy="53097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Plus 60 oder mal 2: Was sieht das Kantenbild?</a:t>
            </a:r>
          </a:p>
        </p:txBody>
      </p:sp>
      <p:pic>
        <p:nvPicPr>
          <p:cNvPr id="3" name="Picture 2" descr="07_Grafik_15_Licht_F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32545"/>
            <a:ext cx="11420856" cy="4976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Gewichtssumme verrät die Frage an die Nachbarn</a:t>
            </a:r>
          </a:p>
        </p:txBody>
      </p:sp>
      <p:pic>
        <p:nvPicPr>
          <p:cNvPr id="3" name="Picture 2" descr="07_Grafik_18_Gewichtssum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60681"/>
            <a:ext cx="11420856" cy="4720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Plus fällt heraus, mal verdoppelt die Kanten</a:t>
            </a:r>
          </a:p>
        </p:txBody>
      </p:sp>
      <p:pic>
        <p:nvPicPr>
          <p:cNvPr id="3" name="Picture 2" descr="07_Grafik_16_Licht_Antw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98897"/>
            <a:ext cx="11420856" cy="50442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 Kantenbild ist noch kein Bauteil</a:t>
            </a:r>
          </a:p>
        </p:txBody>
      </p:sp>
      <p:pic>
        <p:nvPicPr>
          <p:cNvPr id="3" name="Picture 2" descr="07_Grafik_25_Kein_Bauteil_He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20460"/>
            <a:ext cx="11420856" cy="52011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Kantenbild und Gewichtssumme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Den Halter finden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Härtetest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Wie weit kommen wir klassisch?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ys06_sortierer_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rlito"/>
              </a:rPr>
              <a:t>Die Anlage findet jedes Teil.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D9E2EC"/>
                </a:solidFill>
                <a:latin typeface="Carlito"/>
              </a:rPr>
              <a:t>Wo liegt es, wie groß ist es — und ist es das richtige?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ys06_messschieber_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D9E2EC"/>
                </a:solidFill>
                <a:latin typeface="Carlito"/>
              </a:rPr>
              <a:t>Die Frage der Stunde</a:t>
            </a:r>
          </a:p>
          <a:p>
            <a:pPr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Carlito"/>
              </a:rPr>
              <a:t>Findet euer Programm den Halter —</a:t>
            </a:r>
          </a:p>
          <a:p>
            <a:pPr>
              <a:spcAft>
                <a:spcPts val="1000"/>
              </a:spcAft>
            </a:pPr>
            <a:r>
              <a:rPr sz="3600" b="1">
                <a:solidFill>
                  <a:srgbClr val="FFB380"/>
                </a:solidFill>
                <a:latin typeface="Carlito"/>
              </a:rPr>
              <a:t>bei jedem Licht?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Fünf Schritte vom Foto zum Umriss</a:t>
            </a:r>
          </a:p>
        </p:txBody>
      </p:sp>
      <p:pic>
        <p:nvPicPr>
          <p:cNvPr id="3" name="Picture 2" descr="07_Grafik_30_Fuenf_Schri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89923"/>
            <a:ext cx="11420856" cy="40622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Neu: findContours liefert jeden Umriss einzeln</a:t>
            </a:r>
          </a:p>
        </p:txBody>
      </p:sp>
      <p:pic>
        <p:nvPicPr>
          <p:cNvPr id="3" name="Picture 2" descr="07_Grafik_32_Code_Umr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33344"/>
            <a:ext cx="11420856" cy="45753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ihr: Findet den Halter in misch</a:t>
            </a:r>
          </a:p>
        </p:txBody>
      </p:sp>
      <p:pic>
        <p:nvPicPr>
          <p:cNvPr id="3" name="Picture 2" descr="07_Grafik_31_Z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627" y="914400"/>
            <a:ext cx="9151696" cy="3429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4526280"/>
            <a:ext cx="11109960" cy="146304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4846320"/>
            <a:ext cx="10287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Arbeitsblatt P1 · 19 Minuten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Ein neues Skript · Werkzeuge im Werkzeugkasten · Tipps nur bei Bedarf aufklappen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Glätten nimmt dem Umriss die Fransen</a:t>
            </a:r>
          </a:p>
        </p:txBody>
      </p:sp>
      <p:pic>
        <p:nvPicPr>
          <p:cNvPr id="3" name="Picture 2" descr="07_Grafik_33_Glaetten_Hil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70773"/>
            <a:ext cx="11420856" cy="4700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Kantenbild und Gewichtssumme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Den Halter finden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Der Härtetest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Wie weit kommen wir klassisch?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Einmal einstellen, viermal finden</a:t>
            </a:r>
          </a:p>
        </p:txBody>
      </p:sp>
      <p:pic>
        <p:nvPicPr>
          <p:cNvPr id="3" name="Picture 2" descr="07_Grafik_34_Reg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71678"/>
            <a:ext cx="11420856" cy="44986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ihr: Der Härtetest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109960" cy="384048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28700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Arbeitsblatt P2 · 15 Minuten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Erst tippen: In wie vielen der vier Aufnahmen findet euer Programm den Halter?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Dasselbe Programm über alle vier Aufnahmen — ein Fenster, 2 × 2 Bilder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Ein Fehlschlag ist ein Messergebnis, kein Programmfehler · Treffer an die Tafel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 Programm, vier Lichter: 2 von 4</a:t>
            </a:r>
          </a:p>
        </p:txBody>
      </p:sp>
      <p:pic>
        <p:nvPicPr>
          <p:cNvPr id="3" name="Picture 2" descr="07_Grafik_35_Ergebn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37968"/>
            <a:ext cx="11420856" cy="47661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Kantenbild und Gewichtssumme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Den Halter finden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Härtetest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Wie weit kommen wir klassisch?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Maske verrät, woran es scheitert</a:t>
            </a:r>
          </a:p>
        </p:txBody>
      </p:sp>
      <p:pic>
        <p:nvPicPr>
          <p:cNvPr id="3" name="Picture 2" descr="07_Grafik_36_Wa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23" y="932688"/>
            <a:ext cx="10894305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So macht es die Industrie: Sie legt das Licht fest</a:t>
            </a:r>
          </a:p>
        </p:txBody>
      </p:sp>
      <p:pic>
        <p:nvPicPr>
          <p:cNvPr id="3" name="Picture 2" descr="07_Grafik_38_Licht_Festl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52337"/>
            <a:ext cx="11420856" cy="45373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Halter als Kern findet den Ort bei jedem Licht</a:t>
            </a:r>
          </a:p>
        </p:txBody>
      </p:sp>
      <p:pic>
        <p:nvPicPr>
          <p:cNvPr id="3" name="Picture 2" descr="07_Grafik_39_Vor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64382"/>
            <a:ext cx="11420856" cy="37428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E97132"/>
                </a:solidFill>
                <a:latin typeface="Carlito"/>
              </a:rPr>
              <a:t>Ein Netz macht genau das — mit vielen kleinen Kernen, die es aus Beispielen lernt.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Jedes Merkmal heute hat ein Mensch festgelegt</a:t>
            </a:r>
          </a:p>
        </p:txBody>
      </p:sp>
      <p:pic>
        <p:nvPicPr>
          <p:cNvPr id="3" name="Picture 2" descr="07_Grafik_37_Erda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31128"/>
            <a:ext cx="11420856" cy="45797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ys06_gpu_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Carlito"/>
              </a:rPr>
              <a:t>Bisher haben wir die Merkmale erfunden.</a:t>
            </a:r>
          </a:p>
          <a:p>
            <a:pPr>
              <a:spcAft>
                <a:spcPts val="1000"/>
              </a:spcAft>
            </a:pPr>
            <a:r>
              <a:rPr sz="3600" b="1">
                <a:solidFill>
                  <a:srgbClr val="FFB380"/>
                </a:solidFill>
                <a:latin typeface="Carlito"/>
              </a:rPr>
              <a:t>Ab Dezember sucht das Netz sie sich selbst.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Bis zum 10. November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109960" cy="25603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287000" cy="1920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Kurzarbeit und Analysebericht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10.11.: Kurzarbeit, 20 Minuten — im Repository: Zusammenfassung und Übungsblatt mit Lösungen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10.11.: Analysebericht abgeben — eure Tabelle und das 2 × 2-Fenster aus P2 gehören hinein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5577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44546A"/>
                </a:solidFill>
                <a:latin typeface="Carlito"/>
              </a:rPr>
              <a:t>Glossar heute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contour — Kontur, Umriss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smoothing, mean filter — Glätten, Mittelwertfilter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Otsu's method — Otsu-Verfahren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4114800"/>
            <a:ext cx="5303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44546A"/>
                </a:solidFill>
                <a:latin typeface="Carlito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robustness — Robustheit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hand-crafted features — erdachte Merkmale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learned features — gelernte Merkmale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lter_seitlich.jpg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rlito"/>
              </a:rPr>
              <a:t>Vertiefung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D9E2EC"/>
                </a:solidFill>
                <a:latin typeface="Carlito"/>
              </a:rPr>
              <a:t>Andere erdachte Merkmale: Ecken und SIFT-Punkte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Ecken: ein anderes Merkmal, dieselbe Grenze</a:t>
            </a:r>
          </a:p>
        </p:txBody>
      </p:sp>
      <p:pic>
        <p:nvPicPr>
          <p:cNvPr id="3" name="Picture 2" descr="07_Grafik_18_Har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34898"/>
            <a:ext cx="11420856" cy="45722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SIFT findet Punkte wieder — bei anderem Licht kaum</a:t>
            </a:r>
          </a:p>
        </p:txBody>
      </p:sp>
      <p:pic>
        <p:nvPicPr>
          <p:cNvPr id="3" name="Picture 2" descr="07_Grafik_19_S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06225"/>
            <a:ext cx="11420856" cy="42295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_01.potx" id="{2615161D-B22D-40AD-B7B4-2C38E79497BA}" vid="{21684944-A2E8-4194-84DE-5B35D735E3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</Words>
  <Application>Microsoft Office PowerPoint</Application>
  <PresentationFormat>Breitbild</PresentationFormat>
  <Paragraphs>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Consolas</vt:lpstr>
      <vt:lpstr>LMSans10-Regular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Mödl Tobias</dc:creator>
  <cp:lastModifiedBy>Sebastian Schaffenroth</cp:lastModifiedBy>
  <cp:revision>12</cp:revision>
  <dcterms:created xsi:type="dcterms:W3CDTF">2025-03-19T14:45:56Z</dcterms:created>
  <dcterms:modified xsi:type="dcterms:W3CDTF">2026-09-12T17:47:32Z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